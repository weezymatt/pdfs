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Matthew Hernandez"/>
  <p:cmAuthor clrIdx="1" id="1" initials="" lastIdx="1" name="Abhay Kumara Sri Krishna Nandiraju"/>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4.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3-25T00:18:51.576">
    <p:pos x="6000" y="0"/>
    <p:text>start: Matthew</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5-03-25T22:26:42.179">
    <p:pos x="6000" y="0"/>
    <p:text>End: Matthew</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3-25T22:25:15.178">
    <p:pos x="6000" y="0"/>
    <p:text>start: Abhay</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3-24T21:32:03.572">
    <p:pos x="6000" y="0"/>
    <p:text>End: Abhay</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3-25T23:24:10.124">
    <p:pos x="6000" y="0"/>
    <p:text>start: Ayesha</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5-03-25T00:19:44.087">
    <p:pos x="6000" y="0"/>
    <p:text>end: Ayesha</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3-25T00:11:46.080">
    <p:pos x="6000" y="0"/>
    <p:text>start: Maksim</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03-24T21:43:15.013">
    <p:pos x="6000" y="0"/>
    <p:text>End: Maksim</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40d6173c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40d6173c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afb0635e0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afb0635e0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afb0635e05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afb0635e05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motivation slide, let’s step back to appreciate how we can query a search engine with a question and </a:t>
            </a:r>
            <a:r>
              <a:rPr lang="en"/>
              <a:t>receive</a:t>
            </a:r>
            <a:r>
              <a:rPr lang="en"/>
              <a:t> an answer!</a:t>
            </a:r>
            <a:endParaRPr/>
          </a:p>
          <a:p>
            <a:pPr indent="-298450" lvl="0" marL="457200" rtl="0" algn="l">
              <a:spcBef>
                <a:spcPts val="0"/>
              </a:spcBef>
              <a:spcAft>
                <a:spcPts val="0"/>
              </a:spcAft>
              <a:buSzPts val="1100"/>
              <a:buAutoNum type="arabicPeriod"/>
            </a:pPr>
            <a:r>
              <a:rPr lang="en"/>
              <a:t>Entities &amp; quantities are often answers. Hence the use of NLP preprocessing modules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afb0635e05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afb0635e05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4285F4"/>
              </a:buClr>
              <a:buSzPts val="1100"/>
              <a:buFont typeface="Arial"/>
              <a:buNone/>
            </a:pPr>
            <a:r>
              <a:rPr lang="en"/>
              <a:t>Let’s define some terms… </a:t>
            </a:r>
            <a:endParaRPr/>
          </a:p>
          <a:p>
            <a:pPr indent="0" lvl="0" marL="0" rtl="0" algn="l">
              <a:lnSpc>
                <a:spcPct val="115000"/>
              </a:lnSpc>
              <a:spcBef>
                <a:spcPts val="0"/>
              </a:spcBef>
              <a:spcAft>
                <a:spcPts val="0"/>
              </a:spcAft>
              <a:buClr>
                <a:srgbClr val="4285F4"/>
              </a:buClr>
              <a:buSzPts val="1100"/>
              <a:buFont typeface="Arial"/>
              <a:buNone/>
            </a:pPr>
            <a:r>
              <a:rPr lang="en"/>
              <a:t>Introduction to the research problem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38e4eb26d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38e4eb26d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 2 refers back to the motivation slide—this is a user need.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35b8ed67c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35b8ed67c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Three main points; each can be handled explicitly or implicitly.</a:t>
            </a:r>
            <a:endParaRPr/>
          </a:p>
          <a:p>
            <a:pPr indent="-298450" lvl="0" marL="457200" rtl="0" algn="l">
              <a:spcBef>
                <a:spcPts val="0"/>
              </a:spcBef>
              <a:spcAft>
                <a:spcPts val="0"/>
              </a:spcAft>
              <a:buSzPts val="1100"/>
              <a:buAutoNum type="arabicPeriod"/>
            </a:pPr>
            <a:r>
              <a:rPr lang="en"/>
              <a:t>Subpoints aren’t important for presentation. Red text is important.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5b8ed67c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5b8ed67c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history. Interesting note is footnote 1.</a:t>
            </a:r>
            <a:endParaRPr/>
          </a:p>
          <a:p>
            <a:pPr indent="0" lvl="0" marL="0" rtl="0" algn="l">
              <a:spcBef>
                <a:spcPts val="0"/>
              </a:spcBef>
              <a:spcAft>
                <a:spcPts val="0"/>
              </a:spcAft>
              <a:buNone/>
            </a:pPr>
            <a:r>
              <a:rPr lang="en"/>
              <a:t>Open domain is difficult. Can’t be too difficult or too easy.</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35bb1aa32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35bb1aa32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an example of an early system. Do you notice any problems? A: Over 10 modules! 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5bb1aa32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5bb1aa32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Serial system definition: assembly lines or transfer lines. In assembly lines, a base, or partial assembly of the product travels to each station on a conveyor. The product is held stationary at this point.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8e4eb26d9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8e4eb26d9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35bb1aa32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35bb1aa32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True open domain =&gt; </a:t>
            </a:r>
            <a:r>
              <a:rPr lang="en">
                <a:solidFill>
                  <a:schemeClr val="dk1"/>
                </a:solidFill>
              </a:rPr>
              <a:t>Experiments show that learning to retrieve is crucial when the questions reflect an information need, i.e. the question writers do not already know the answer.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Interesting note: </a:t>
            </a:r>
            <a:r>
              <a:rPr lang="en"/>
              <a:t>exploiting </a:t>
            </a:r>
            <a:r>
              <a:rPr lang="en"/>
              <a:t>the web/large collection of docs increases chances of the answer being retrieved because the question is more likely to be in multiple docs. This is redundancy and may limit the amount of NLP during preprocessing</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35bb1aa32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35bb1aa32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point: Verifies that higher precision on the proxy metric (retrieval) translates to higher end-to-end accuracy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b1536e2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b1536e2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Now we will understand the model architecture and training details</a:t>
            </a:r>
            <a:endParaRPr/>
          </a:p>
          <a:p>
            <a:pPr indent="-298450" lvl="0" marL="457200" rtl="0" algn="l">
              <a:spcBef>
                <a:spcPts val="0"/>
              </a:spcBef>
              <a:spcAft>
                <a:spcPts val="0"/>
              </a:spcAft>
              <a:buSzPts val="1100"/>
              <a:buAutoNum type="arabicPeriod"/>
            </a:pPr>
            <a:r>
              <a:rPr lang="en"/>
              <a:t>DPR employs a dual-encoder BERT based architecture. It has three components</a:t>
            </a:r>
            <a:endParaRPr/>
          </a:p>
          <a:p>
            <a:pPr indent="-298450" lvl="0" marL="457200" rtl="0" algn="l">
              <a:spcBef>
                <a:spcPts val="0"/>
              </a:spcBef>
              <a:spcAft>
                <a:spcPts val="0"/>
              </a:spcAft>
              <a:buSzPts val="1100"/>
              <a:buAutoNum type="arabicPeriod"/>
            </a:pPr>
            <a:r>
              <a:rPr lang="en"/>
              <a:t>First one is called the Query encoder which maps an input question to a 768 dimensional vector space otherwise called vector embedding</a:t>
            </a:r>
            <a:endParaRPr/>
          </a:p>
          <a:p>
            <a:pPr indent="-298450" lvl="0" marL="457200" rtl="0" algn="l">
              <a:spcBef>
                <a:spcPts val="0"/>
              </a:spcBef>
              <a:spcAft>
                <a:spcPts val="0"/>
              </a:spcAft>
              <a:buSzPts val="1100"/>
              <a:buAutoNum type="arabicPeriod"/>
            </a:pPr>
            <a:r>
              <a:rPr lang="en"/>
              <a:t>Secondly, it has a Passage encoder that maps a passage or a chunk of text from the corpus to a 768 dimensional vector space.</a:t>
            </a:r>
            <a:endParaRPr/>
          </a:p>
          <a:p>
            <a:pPr indent="-298450" lvl="0" marL="457200" rtl="0" algn="l">
              <a:spcBef>
                <a:spcPts val="0"/>
              </a:spcBef>
              <a:spcAft>
                <a:spcPts val="0"/>
              </a:spcAft>
              <a:buSzPts val="1100"/>
              <a:buAutoNum type="arabicPeriod"/>
            </a:pPr>
            <a:r>
              <a:rPr lang="en"/>
              <a:t>Then a similarity calculation step that performs the dot-product of query and passage embeddings. It shows how relevant a passage is to the input question or in other words how well the passage is oriented towards a question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31fa6674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431fa6674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The diagram here illustrates the architecture in a simple manner.</a:t>
            </a:r>
            <a:endParaRPr/>
          </a:p>
          <a:p>
            <a:pPr indent="-298450" lvl="0" marL="457200" rtl="0" algn="l">
              <a:spcBef>
                <a:spcPts val="0"/>
              </a:spcBef>
              <a:spcAft>
                <a:spcPts val="0"/>
              </a:spcAft>
              <a:buSzPts val="1100"/>
              <a:buAutoNum type="arabicPeriod"/>
            </a:pPr>
            <a:r>
              <a:rPr lang="en"/>
              <a:t>Quickly explain the diagram</a:t>
            </a:r>
            <a:endParaRPr/>
          </a:p>
          <a:p>
            <a:pPr indent="-298450" lvl="0" marL="457200" rtl="0" algn="l">
              <a:spcBef>
                <a:spcPts val="0"/>
              </a:spcBef>
              <a:spcAft>
                <a:spcPts val="0"/>
              </a:spcAft>
              <a:buSzPts val="1100"/>
              <a:buAutoNum type="arabicPeriod"/>
            </a:pPr>
            <a:r>
              <a:rPr lang="en"/>
              <a:t>There are two main advantages of the this architecture</a:t>
            </a:r>
            <a:endParaRPr/>
          </a:p>
          <a:p>
            <a:pPr indent="-298450" lvl="0" marL="457200" rtl="0" algn="l">
              <a:spcBef>
                <a:spcPts val="0"/>
              </a:spcBef>
              <a:spcAft>
                <a:spcPts val="0"/>
              </a:spcAft>
              <a:buSzPts val="1100"/>
              <a:buAutoNum type="arabicPeriod"/>
            </a:pPr>
            <a:r>
              <a:rPr lang="en"/>
              <a:t>Firstly, the DPR architecture has two independent encoders:passage and query encoders that specialize in capturing the context in </a:t>
            </a:r>
            <a:r>
              <a:rPr lang="en"/>
              <a:t>questions and passages separately. This allows the encoders to focus completely on understanding the patterns in questions and passages separately.</a:t>
            </a:r>
            <a:endParaRPr/>
          </a:p>
          <a:p>
            <a:pPr indent="-298450" lvl="0" marL="457200" rtl="0" algn="l">
              <a:spcBef>
                <a:spcPts val="0"/>
              </a:spcBef>
              <a:spcAft>
                <a:spcPts val="0"/>
              </a:spcAft>
              <a:buSzPts val="1100"/>
              <a:buAutoNum type="arabicPeriod"/>
            </a:pPr>
            <a:r>
              <a:rPr lang="en"/>
              <a:t>Secondly, since both the encoders project the input text to vector space of same dimensionality, this allows direct comparison using dot product.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31fa66743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431fa66743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Like any supervised learning model, to train train DPR we need a dataset, loss function and an optimization algorithm.</a:t>
            </a:r>
            <a:endParaRPr/>
          </a:p>
          <a:p>
            <a:pPr indent="-298450" lvl="0" marL="457200" rtl="0" algn="l">
              <a:spcBef>
                <a:spcPts val="0"/>
              </a:spcBef>
              <a:spcAft>
                <a:spcPts val="0"/>
              </a:spcAft>
              <a:buSzPts val="1100"/>
              <a:buAutoNum type="arabicPeriod"/>
            </a:pPr>
            <a:r>
              <a:rPr lang="en"/>
              <a:t>A training example consists of a question, a +ve passage and a -ve passage</a:t>
            </a:r>
            <a:endParaRPr/>
          </a:p>
          <a:p>
            <a:pPr indent="-298450" lvl="0" marL="457200" rtl="0" algn="l">
              <a:spcBef>
                <a:spcPts val="0"/>
              </a:spcBef>
              <a:spcAft>
                <a:spcPts val="0"/>
              </a:spcAft>
              <a:buSzPts val="1100"/>
              <a:buAutoNum type="arabicPeriod"/>
            </a:pPr>
            <a:r>
              <a:rPr lang="en"/>
              <a:t>Question is the query to which we want an answer </a:t>
            </a:r>
            <a:endParaRPr/>
          </a:p>
          <a:p>
            <a:pPr indent="-298450" lvl="0" marL="457200" rtl="0" algn="l">
              <a:spcBef>
                <a:spcPts val="0"/>
              </a:spcBef>
              <a:spcAft>
                <a:spcPts val="0"/>
              </a:spcAft>
              <a:buSzPts val="1100"/>
              <a:buAutoNum type="arabicPeriod"/>
            </a:pPr>
            <a:r>
              <a:rPr lang="en"/>
              <a:t>Positive</a:t>
            </a:r>
            <a:r>
              <a:rPr lang="en"/>
              <a:t> passage is the passage with the correct answer to the question whereas negative passages are the ones that are irrelevant to the question.</a:t>
            </a:r>
            <a:endParaRPr/>
          </a:p>
          <a:p>
            <a:pPr indent="-298450" lvl="0" marL="457200" rtl="0" algn="l">
              <a:spcBef>
                <a:spcPts val="0"/>
              </a:spcBef>
              <a:spcAft>
                <a:spcPts val="0"/>
              </a:spcAft>
              <a:buSzPts val="1100"/>
              <a:buAutoNum type="arabicPeriod"/>
            </a:pPr>
            <a:r>
              <a:rPr lang="en"/>
              <a:t>Note that a particular training example has a single positive passage but many negative passages</a:t>
            </a:r>
            <a:endParaRPr/>
          </a:p>
          <a:p>
            <a:pPr indent="-298450" lvl="0" marL="457200" rtl="0" algn="l">
              <a:spcBef>
                <a:spcPts val="0"/>
              </a:spcBef>
              <a:spcAft>
                <a:spcPts val="0"/>
              </a:spcAft>
              <a:buSzPts val="1100"/>
              <a:buAutoNum type="arabicPeriod"/>
            </a:pPr>
            <a:r>
              <a:rPr lang="en"/>
              <a:t>The objective of training this model is to not </a:t>
            </a:r>
            <a:r>
              <a:rPr lang="en"/>
              <a:t>only maximize the similarity between a question and its corresponding positive passage but also to minimize the similarity with the negative passages.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431fa6674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431fa6674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Now coming to the loss function</a:t>
            </a:r>
            <a:endParaRPr/>
          </a:p>
          <a:p>
            <a:pPr indent="-298450" lvl="0" marL="457200" rtl="0" algn="l">
              <a:spcBef>
                <a:spcPts val="0"/>
              </a:spcBef>
              <a:spcAft>
                <a:spcPts val="0"/>
              </a:spcAft>
              <a:buSzPts val="1100"/>
              <a:buAutoNum type="arabicPeriod"/>
            </a:pPr>
            <a:r>
              <a:rPr lang="en"/>
              <a:t>Since we want to maximize the similarity between the question and positive passage while minimizing the similarity with the negative passages, </a:t>
            </a:r>
            <a:r>
              <a:rPr lang="en"/>
              <a:t>negative</a:t>
            </a:r>
            <a:r>
              <a:rPr lang="en"/>
              <a:t> log-likelihood loss is apt for this task.</a:t>
            </a:r>
            <a:endParaRPr/>
          </a:p>
          <a:p>
            <a:pPr indent="-298450" lvl="0" marL="457200" rtl="0" algn="l">
              <a:spcBef>
                <a:spcPts val="0"/>
              </a:spcBef>
              <a:spcAft>
                <a:spcPts val="0"/>
              </a:spcAft>
              <a:buSzPts val="1100"/>
              <a:buAutoNum type="arabicPeriod"/>
            </a:pPr>
            <a:r>
              <a:rPr lang="en"/>
              <a:t>It can be clearly seen that when the similarity with positive passages is high the value of the loss function is low. So the objective here is to minimize the negative-log likelihood function.</a:t>
            </a:r>
            <a:endParaRPr/>
          </a:p>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The denominator includes all negative passage similarities, so reducing the loss pushes the model to distinguish positives from negatives effectively.</a:t>
            </a:r>
            <a:endParaRPr sz="1200">
              <a:solidFill>
                <a:schemeClr val="dk1"/>
              </a:solidFill>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AutoNum type="arabicPeriod"/>
            </a:pPr>
            <a:r>
              <a:rPr lang="en" sz="1200">
                <a:solidFill>
                  <a:schemeClr val="dk1"/>
                </a:solidFill>
                <a:latin typeface="Roboto"/>
                <a:ea typeface="Roboto"/>
                <a:cs typeface="Roboto"/>
                <a:sym typeface="Roboto"/>
              </a:rPr>
              <a:t>The weights are </a:t>
            </a:r>
            <a:r>
              <a:rPr lang="en" sz="1200">
                <a:solidFill>
                  <a:schemeClr val="dk1"/>
                </a:solidFill>
                <a:latin typeface="Roboto"/>
                <a:ea typeface="Roboto"/>
                <a:cs typeface="Roboto"/>
                <a:sym typeface="Roboto"/>
              </a:rPr>
              <a:t>updates</a:t>
            </a:r>
            <a:r>
              <a:rPr lang="en" sz="1200">
                <a:solidFill>
                  <a:schemeClr val="dk1"/>
                </a:solidFill>
                <a:latin typeface="Roboto"/>
                <a:ea typeface="Roboto"/>
                <a:cs typeface="Roboto"/>
                <a:sym typeface="Roboto"/>
              </a:rPr>
              <a:t> using gradient descent optimization technique</a:t>
            </a:r>
            <a:endParaRPr sz="1200">
              <a:solidFill>
                <a:schemeClr val="dk1"/>
              </a:solidFill>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431fa6674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431fa6674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It is obvious that a given query has many negative passages since these are the passages that are irrelevant to the question. So, there has to be some </a:t>
            </a:r>
            <a:r>
              <a:rPr lang="en"/>
              <a:t>intelligent</a:t>
            </a:r>
            <a:r>
              <a:rPr lang="en"/>
              <a:t> way of choosing the negative passages without compromising </a:t>
            </a:r>
            <a:r>
              <a:rPr lang="en"/>
              <a:t>computational efficiency.</a:t>
            </a:r>
            <a:endParaRPr/>
          </a:p>
          <a:p>
            <a:pPr indent="-298450" lvl="0" marL="457200" rtl="0" algn="l">
              <a:spcBef>
                <a:spcPts val="0"/>
              </a:spcBef>
              <a:spcAft>
                <a:spcPts val="0"/>
              </a:spcAft>
              <a:buSzPts val="1100"/>
              <a:buAutoNum type="arabicPeriod"/>
            </a:pPr>
            <a:r>
              <a:rPr lang="en"/>
              <a:t>The authors explored three different ways to select negatives: first one is randomly select passages from corpus, second one is select top passages returned by BM25 which doesn’t contain the answer but match most question tokens. The third method or the gold method is to pick positive passages paired with other questions.</a:t>
            </a:r>
            <a:endParaRPr/>
          </a:p>
          <a:p>
            <a:pPr indent="-298450" lvl="0" marL="457200" rtl="0" algn="l">
              <a:spcBef>
                <a:spcPts val="0"/>
              </a:spcBef>
              <a:spcAft>
                <a:spcPts val="0"/>
              </a:spcAft>
              <a:buSzPts val="1100"/>
              <a:buAutoNum type="arabicPeriod"/>
            </a:pPr>
            <a:r>
              <a:rPr lang="en"/>
              <a:t>The model with the best performance has gold negatives from the same minibatch along with one or two BM25 negatives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431fa6674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431fa6674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For </a:t>
            </a:r>
            <a:r>
              <a:rPr lang="en"/>
              <a:t>efficient</a:t>
            </a:r>
            <a:r>
              <a:rPr lang="en"/>
              <a:t> computation, the negative passages are chosen from the same mini-batch in which the question is present. These are called in-batch negatives.</a:t>
            </a:r>
            <a:endParaRPr/>
          </a:p>
          <a:p>
            <a:pPr indent="-298450" lvl="0" marL="457200" rtl="0" algn="l">
              <a:spcBef>
                <a:spcPts val="0"/>
              </a:spcBef>
              <a:spcAft>
                <a:spcPts val="0"/>
              </a:spcAft>
              <a:buSzPts val="1100"/>
              <a:buAutoNum type="arabicPeriod"/>
            </a:pPr>
            <a:r>
              <a:rPr lang="en"/>
              <a:t>Let say we have a mini-batch of size B. This implies we have B </a:t>
            </a:r>
            <a:r>
              <a:rPr lang="en"/>
              <a:t>training</a:t>
            </a:r>
            <a:r>
              <a:rPr lang="en"/>
              <a:t> example. Using the in-batch method each question in the mini-batch has B-1 negative passages or gold negatives.</a:t>
            </a:r>
            <a:endParaRPr/>
          </a:p>
          <a:p>
            <a:pPr indent="-298450" lvl="0" marL="457200" rtl="0" algn="l">
              <a:spcBef>
                <a:spcPts val="0"/>
              </a:spcBef>
              <a:spcAft>
                <a:spcPts val="0"/>
              </a:spcAft>
              <a:buSzPts val="1100"/>
              <a:buAutoNum type="arabicPeriod"/>
            </a:pPr>
            <a:r>
              <a:rPr lang="en"/>
              <a:t>This method is </a:t>
            </a:r>
            <a:r>
              <a:rPr lang="en"/>
              <a:t>effective</a:t>
            </a:r>
            <a:r>
              <a:rPr lang="en"/>
              <a:t> especially in learning a dual-encoder problem since it boosts the number of training </a:t>
            </a:r>
            <a:r>
              <a:rPr lang="en"/>
              <a:t>examples, allowing the model to see more number of negatives/irrelevant passages thereby distinguishing positives from negatives effectively.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431fa6674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431fa6674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The question is What is the DPR Inference, and How it actually works. During inference the aim is to retrieve the most relevant passages for a given input question. It has Three part like precomputing passage embeddings, </a:t>
            </a:r>
            <a:r>
              <a:rPr lang="en"/>
              <a:t>Query</a:t>
            </a:r>
            <a:r>
              <a:rPr lang="en"/>
              <a:t> Encoding and Retrieval. In the precomputing passage embeddings compute dense embeddings for all the passages in the corpus, and store it. With the help by facebook AI similarity score it used to index of these dense embeddings.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431fa6674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431fa6674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 </a:t>
            </a:r>
            <a:r>
              <a:rPr lang="en"/>
              <a:t>Query</a:t>
            </a:r>
            <a:r>
              <a:rPr lang="en"/>
              <a:t> Encoding worked on real time by computing the dense embedding of the question. Finally, Retrieval, compare the query embedding with precomputed passage embedding and retrieve the Top k passages with highest similarity scores. As it involves only inner product so this is so fast to retrieval.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431fa66743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431fa66743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431fa6674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431fa6674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Those are the reasons of inference efficiency, As DPR is used here, so it precomputing and indexing passage embeddings, as a result it no need repeatedly encoded the passages. And things is that, As it used Facebook AI Similarity Search which help for similarity search efficiently even in high-dimensional spaces. It does parallel processing as the query and passage encoder has independent nature.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42cb1ee5f5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42cb1ee5f5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1000"/>
              </a:spcBef>
              <a:spcAft>
                <a:spcPts val="0"/>
              </a:spcAft>
              <a:buClr>
                <a:schemeClr val="dk1"/>
              </a:buClr>
              <a:buSzPts val="1100"/>
              <a:buFont typeface="Arial"/>
              <a:buNone/>
            </a:pPr>
            <a:r>
              <a:rPr lang="en" sz="1200">
                <a:solidFill>
                  <a:schemeClr val="dk1"/>
                </a:solidFill>
              </a:rPr>
              <a:t>The paper shows that dense retrieval can outperform traditional sparse methods like BM25. For example, DPR achieves 78.4% top-20 accuracy on Natural Questions, compared to 59.1% for BM25. this model also </a:t>
            </a:r>
            <a:r>
              <a:rPr lang="en" sz="1200">
                <a:solidFill>
                  <a:schemeClr val="dk1"/>
                </a:solidFill>
              </a:rPr>
              <a:t>perform</a:t>
            </a:r>
            <a:r>
              <a:rPr lang="en" sz="1200">
                <a:solidFill>
                  <a:schemeClr val="dk1"/>
                </a:solidFill>
              </a:rPr>
              <a:t> good for other datasets as well like for Trivia QA 79.9% in Top-20 and </a:t>
            </a:r>
            <a:r>
              <a:rPr lang="en" sz="1200">
                <a:solidFill>
                  <a:schemeClr val="dk1"/>
                </a:solidFill>
              </a:rPr>
              <a:t>achieved</a:t>
            </a:r>
            <a:r>
              <a:rPr lang="en" sz="1200">
                <a:solidFill>
                  <a:schemeClr val="dk1"/>
                </a:solidFill>
              </a:rPr>
              <a:t> 85% for Top 100. </a:t>
            </a:r>
            <a:endParaRPr sz="1200">
              <a:solidFill>
                <a:schemeClr val="dk1"/>
              </a:solidFill>
            </a:endParaRPr>
          </a:p>
          <a:p>
            <a:pPr indent="0" lvl="0" marL="0" rtl="0" algn="l">
              <a:spcBef>
                <a:spcPts val="300"/>
              </a:spcBef>
              <a:spcAft>
                <a:spcPts val="0"/>
              </a:spcAft>
              <a:buNone/>
            </a:pPr>
            <a:r>
              <a:t/>
            </a:r>
            <a:endParaRPr sz="6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42cb1ee5f5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42cb1ee5f5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0000"/>
              </a:lnSpc>
              <a:spcBef>
                <a:spcPts val="300"/>
              </a:spcBef>
              <a:spcAft>
                <a:spcPts val="0"/>
              </a:spcAft>
              <a:buClr>
                <a:schemeClr val="dk1"/>
              </a:buClr>
              <a:buSzPts val="1100"/>
              <a:buFont typeface="Arial"/>
              <a:buNone/>
            </a:pPr>
            <a:r>
              <a:rPr lang="en" sz="1000">
                <a:solidFill>
                  <a:schemeClr val="dk1"/>
                </a:solidFill>
              </a:rPr>
              <a:t>By improving retrieval, the end-to-end question answering system also improves. For instance, DPR helps achieve 41.5% exact match accuracy on Natural Questions, beating previous methods like ORQA (33.3%), BM25+ BERT only 26.5%.</a:t>
            </a:r>
            <a:endParaRPr sz="1000">
              <a:solidFill>
                <a:schemeClr val="dk1"/>
              </a:solidFill>
            </a:endParaRPr>
          </a:p>
          <a:p>
            <a:pPr indent="0" lvl="0" marL="0" rtl="0" algn="l">
              <a:spcBef>
                <a:spcPts val="300"/>
              </a:spcBef>
              <a:spcAft>
                <a:spcPts val="0"/>
              </a:spcAft>
              <a:buNone/>
            </a:pPr>
            <a:r>
              <a:t/>
            </a:r>
            <a:endParaRPr sz="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42cb1ee5f5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42cb1ee5f5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42cb1ee5f5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42cb1ee5f5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we can see that DPR performs very well across the board, 10-20 </a:t>
            </a:r>
            <a:r>
              <a:rPr lang="en"/>
              <a:t>percentage</a:t>
            </a:r>
            <a:r>
              <a:rPr lang="en"/>
              <a:t> point higher than keyword-based BM25, there is one notable exception. This exception is the SQuAD dataset, highlighted in the table on the screen. The authors of the paper note that</a:t>
            </a:r>
            <a:r>
              <a:rPr lang="en"/>
              <a:t> many questions in the dataset lack context, which affect the performance of DPR, but BM25 still performs better. This is one of the limitations of DPR.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42cb1ee5f5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42cb1ee5f5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other limitation is that DPR seems to struggle a bit with rare phrases. On the screen we can look at one example of DPR making a mistake and at one example of an older keyword-based BM25 making a mistake. I’ll quote directly from the paper to explain this example: In the first example, the top scoring passage from BM25 is irrelevant, even though keywords such as England and Ireland appear multiple times. In comparison, DPR is able to return the correct answer, presumably by matching “body of water” with semantic neighbors such as sea and channel, even though no lexical overlap exists. The second example is one where BM25 does better. The salient phrase “Thoros of Myr” is critical, and DPR is unable to capture it.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42cb1ee5f5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42cb1ee5f5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DPR doesn’t require a lot of resources, but it is still a significant amount, which is a limitation because it makes implementation very hard on any consumer-grade computer. In the paper they mention that "Computing dense embeddings on 21-million passages is resource intensive, but can be easily parallelized, taking roughly 8.8 hours on 8 GPUs."</a:t>
            </a:r>
            <a:br>
              <a:rPr lang="en"/>
            </a:br>
            <a:br>
              <a:rPr lang="en"/>
            </a:br>
            <a:r>
              <a:rPr lang="en"/>
              <a:t>Idea: remove the retriever altogether. Use something like T5 instead. See that paper for more info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3b1536e28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3b1536e28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of the key assumptions the paper makes is that dense </a:t>
            </a:r>
            <a:r>
              <a:rPr lang="en"/>
              <a:t>representations can be superior to sparse representations</a:t>
            </a:r>
            <a:r>
              <a:rPr lang="en"/>
              <a:t>. This may seem obvious now, but it was not at the moment. I’ll quote the paper directly here: "Dense retrieval methods have never been shown to outperform TF-IDF/BM25 for open-domain QA before 2019".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assumption the paper made was that dual-encoder architecture could work better. Again, the dual encoder architecture uses two different encoders to encode questions and passages, then computes the similarity scores between the two representations. And the </a:t>
            </a:r>
            <a:r>
              <a:rPr lang="en"/>
              <a:t>benchmark</a:t>
            </a:r>
            <a:r>
              <a:rPr lang="en"/>
              <a:t> results show that this approach yields good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assumption I want to mention is that fine-tuning is sufficient. I’ll </a:t>
            </a:r>
            <a:r>
              <a:rPr lang="en"/>
              <a:t>QUOTE from the paper: "With the proper training setup, simply fine-tuning the question and passage encoders on existing question-passage pairs is sufficient to greatly outperform BM25"</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3b1b77c34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3b1b77c34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In-batch negatives are one of the key parts of the paper. DPR uses a large number of passages of equal length. For any given question, one of the passages is the answer, the rest are negatives by default. Instead of using random negative, one of the innovations in this paper is using in-batch negatives. These are negatives that are a positive answer to a different question, instead of using a random passage that may not be an answer to any question. This saves resources and improves performance.</a:t>
            </a:r>
            <a:br>
              <a:rPr lang="en"/>
            </a:br>
            <a:br>
              <a:rPr lang="en"/>
            </a:br>
            <a:r>
              <a:rPr lang="en"/>
              <a:t>This paper also shows that training DPR on all possible benchmarks </a:t>
            </a:r>
            <a:r>
              <a:rPr lang="en"/>
              <a:t>improves</a:t>
            </a:r>
            <a:r>
              <a:rPr lang="en"/>
              <a:t> the performance. We can see it in the table. The Single row contains figures for DPR trained only on that particular dataset, while the multi row contains performance numbers for DPR trained on all datasets at once.</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b1b77c34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3b1b77c34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Finally, I just wanted to highlight that the model described in the paper is actually useful for real-world applications. It can be </a:t>
            </a:r>
            <a:r>
              <a:rPr lang="en"/>
              <a:t>implemented</a:t>
            </a:r>
            <a:r>
              <a:rPr lang="en"/>
              <a:t> to search legal and financial documents, to retrieve medical and scientific literature and to create enterprise knowledge databases of any sort.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42cb1ee5f5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42cb1ee5f5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432e3e10e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432e3e10e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to be presented: 29</a:t>
            </a:r>
            <a:endParaRPr/>
          </a:p>
          <a:p>
            <a:pPr indent="0" lvl="0" marL="0" rtl="0" algn="l">
              <a:spcBef>
                <a:spcPts val="0"/>
              </a:spcBef>
              <a:spcAft>
                <a:spcPts val="0"/>
              </a:spcAft>
              <a:buNone/>
            </a:pPr>
            <a:r>
              <a:rPr lang="en"/>
              <a:t>Maybe remove one (or 2 max) slides and that’s about it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comments" Target="../comments/commen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comments" Target="../comments/commen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comments" Target="../comments/commen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comments" Target="../comments/comment6.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comments" Target="../comments/comment7.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image.jpg"/>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 name="Google Shape;55;p13"/>
          <p:cNvSpPr txBox="1"/>
          <p:nvPr/>
        </p:nvSpPr>
        <p:spPr>
          <a:xfrm>
            <a:off x="5043625" y="2696600"/>
            <a:ext cx="1710300" cy="24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56" name="Google Shape;56;p13"/>
          <p:cNvSpPr txBox="1"/>
          <p:nvPr/>
        </p:nvSpPr>
        <p:spPr>
          <a:xfrm>
            <a:off x="3277050" y="0"/>
            <a:ext cx="2438100" cy="88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100">
                <a:solidFill>
                  <a:schemeClr val="lt1"/>
                </a:solidFill>
              </a:rPr>
              <a:t>Digital Dragons</a:t>
            </a:r>
            <a:endParaRPr b="1" sz="2100">
              <a:solidFill>
                <a:schemeClr val="lt1"/>
              </a:solidFill>
            </a:endParaRPr>
          </a:p>
        </p:txBody>
      </p:sp>
      <p:sp>
        <p:nvSpPr>
          <p:cNvPr id="57" name="Google Shape;57;p13"/>
          <p:cNvSpPr txBox="1"/>
          <p:nvPr/>
        </p:nvSpPr>
        <p:spPr>
          <a:xfrm>
            <a:off x="7090425" y="3341475"/>
            <a:ext cx="1983300" cy="130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D1D2D3"/>
                </a:solidFill>
              </a:rPr>
              <a:t>digital dragons logo design, more digitalized and anime oriented, with a four-headed dragon resembling fiery serpents in a cosmic storm”—and apply a pixelated effect to it</a:t>
            </a:r>
            <a:endParaRPr b="1" sz="11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rgbClr val="000000"/>
              </a:buClr>
              <a:buSzPts val="990"/>
              <a:buFont typeface="Arial"/>
              <a:buNone/>
            </a:pPr>
            <a:r>
              <a:rPr lang="en" sz="4200"/>
              <a:t>Dense Passage Retrieval for Open-Domain Question Answering</a:t>
            </a:r>
            <a:endParaRPr/>
          </a:p>
        </p:txBody>
      </p:sp>
      <p:sp>
        <p:nvSpPr>
          <p:cNvPr id="63" name="Google Shape;63;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Ayesha Khatun, Maksin Kulik , Abhay Nandiraju, Matthew Hernandez</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4294967295"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900"/>
              <a:t>Motivation: Search</a:t>
            </a:r>
            <a:endParaRPr sz="3900"/>
          </a:p>
        </p:txBody>
      </p:sp>
      <p:pic>
        <p:nvPicPr>
          <p:cNvPr id="69" name="Google Shape;69;p15" title="mascot_qa.png"/>
          <p:cNvPicPr preferRelativeResize="0"/>
          <p:nvPr/>
        </p:nvPicPr>
        <p:blipFill>
          <a:blip r:embed="rId3">
            <a:alphaModFix/>
          </a:blip>
          <a:stretch>
            <a:fillRect/>
          </a:stretch>
        </p:blipFill>
        <p:spPr>
          <a:xfrm>
            <a:off x="1097625" y="1340125"/>
            <a:ext cx="6981375" cy="3244651"/>
          </a:xfrm>
          <a:prstGeom prst="rect">
            <a:avLst/>
          </a:prstGeom>
          <a:noFill/>
          <a:ln>
            <a:noFill/>
          </a:ln>
        </p:spPr>
      </p:pic>
      <p:sp>
        <p:nvSpPr>
          <p:cNvPr id="70" name="Google Shape;70;p15"/>
          <p:cNvSpPr/>
          <p:nvPr/>
        </p:nvSpPr>
        <p:spPr>
          <a:xfrm flipH="1">
            <a:off x="1149000" y="2246400"/>
            <a:ext cx="3423000" cy="650700"/>
          </a:xfrm>
          <a:prstGeom prst="wedgeRoundRectCallout">
            <a:avLst>
              <a:gd fmla="val -20833" name="adj1"/>
              <a:gd fmla="val 62500" name="adj2"/>
              <a:gd fmla="val 0" name="adj3"/>
            </a:avLst>
          </a:prstGeom>
          <a:solidFill>
            <a:srgbClr val="9FC5E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Short Answer </a:t>
            </a:r>
            <a:endParaRPr/>
          </a:p>
        </p:txBody>
      </p:sp>
      <p:sp>
        <p:nvSpPr>
          <p:cNvPr id="71" name="Google Shape;71;p15"/>
          <p:cNvSpPr/>
          <p:nvPr/>
        </p:nvSpPr>
        <p:spPr>
          <a:xfrm>
            <a:off x="6011350" y="1017725"/>
            <a:ext cx="1574100" cy="572700"/>
          </a:xfrm>
          <a:prstGeom prst="wedgeRoundRectCallout">
            <a:avLst>
              <a:gd fmla="val -20833" name="adj1"/>
              <a:gd fmla="val 62500" name="adj2"/>
              <a:gd fmla="val 0" name="adj3"/>
            </a:avLst>
          </a:prstGeom>
          <a:solidFill>
            <a:srgbClr val="9FC5E8"/>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Query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900"/>
              <a:t>Introduction</a:t>
            </a:r>
            <a:endParaRPr sz="3900"/>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7350" lvl="0" marL="457200" rtl="0" algn="l">
              <a:spcBef>
                <a:spcPts val="0"/>
              </a:spcBef>
              <a:spcAft>
                <a:spcPts val="0"/>
              </a:spcAft>
              <a:buSzPts val="2500"/>
              <a:buChar char="●"/>
            </a:pPr>
            <a:r>
              <a:rPr lang="en" sz="2500"/>
              <a:t>Question answering (QA): answering questions posed in natural language with [short] answers</a:t>
            </a:r>
            <a:endParaRPr sz="2500"/>
          </a:p>
          <a:p>
            <a:pPr indent="-387350" lvl="0" marL="457200" rtl="0" algn="l">
              <a:spcBef>
                <a:spcPts val="0"/>
              </a:spcBef>
              <a:spcAft>
                <a:spcPts val="0"/>
              </a:spcAft>
              <a:buSzPts val="2500"/>
              <a:buChar char="●"/>
            </a:pPr>
            <a:r>
              <a:rPr lang="en" sz="2500"/>
              <a:t>Open domain: [factoid] questions that can be about any topic—difficult!</a:t>
            </a:r>
            <a:endParaRPr sz="2500"/>
          </a:p>
          <a:p>
            <a:pPr indent="-387350" lvl="0" marL="457200" rtl="0" algn="l">
              <a:spcBef>
                <a:spcPts val="0"/>
              </a:spcBef>
              <a:spcAft>
                <a:spcPts val="0"/>
              </a:spcAft>
              <a:buSzPts val="2500"/>
              <a:buChar char="●"/>
            </a:pPr>
            <a:r>
              <a:rPr lang="en" sz="2500"/>
              <a:t>Two popular paradigms of QA:</a:t>
            </a:r>
            <a:endParaRPr sz="2500"/>
          </a:p>
          <a:p>
            <a:pPr indent="-387350" lvl="1" marL="914400" rtl="0" algn="l">
              <a:spcBef>
                <a:spcPts val="0"/>
              </a:spcBef>
              <a:spcAft>
                <a:spcPts val="0"/>
              </a:spcAft>
              <a:buSzPts val="2500"/>
              <a:buChar char="○"/>
            </a:pPr>
            <a:r>
              <a:rPr lang="en" sz="2500">
                <a:highlight>
                  <a:schemeClr val="lt1"/>
                </a:highlight>
              </a:rPr>
              <a:t>Text-</a:t>
            </a:r>
            <a:r>
              <a:rPr lang="en" sz="2500">
                <a:highlight>
                  <a:schemeClr val="lt1"/>
                </a:highlight>
              </a:rPr>
              <a:t>based</a:t>
            </a:r>
            <a:endParaRPr sz="2400">
              <a:highlight>
                <a:schemeClr val="lt1"/>
              </a:highlight>
            </a:endParaRPr>
          </a:p>
          <a:p>
            <a:pPr indent="-387350" lvl="1" marL="914400" rtl="0" algn="l">
              <a:spcBef>
                <a:spcPts val="0"/>
              </a:spcBef>
              <a:spcAft>
                <a:spcPts val="0"/>
              </a:spcAft>
              <a:buSzPts val="2500"/>
              <a:buChar char="○"/>
            </a:pPr>
            <a:r>
              <a:rPr lang="en" sz="2500"/>
              <a:t>Knowledge-based</a:t>
            </a:r>
            <a:endParaRPr sz="2500"/>
          </a:p>
        </p:txBody>
      </p:sp>
      <p:sp>
        <p:nvSpPr>
          <p:cNvPr id="78" name="Google Shape;78;p16"/>
          <p:cNvSpPr/>
          <p:nvPr/>
        </p:nvSpPr>
        <p:spPr>
          <a:xfrm>
            <a:off x="3567000" y="3304350"/>
            <a:ext cx="2010000" cy="686700"/>
          </a:xfrm>
          <a:prstGeom prst="lef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This presentation!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Information Retrieval</a:t>
            </a:r>
            <a:endParaRPr sz="3900"/>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sz="2500"/>
              <a:t>Methods from information retrieval (i.e., indexing, ranking, vector space model) can be nicely adapted</a:t>
            </a:r>
            <a:endParaRPr sz="2500"/>
          </a:p>
          <a:p>
            <a:pPr indent="-342900" lvl="0" marL="457200" rtl="0" algn="l">
              <a:spcBef>
                <a:spcPts val="0"/>
              </a:spcBef>
              <a:spcAft>
                <a:spcPts val="0"/>
              </a:spcAft>
              <a:buSzPts val="1800"/>
              <a:buChar char="●"/>
            </a:pPr>
            <a:r>
              <a:rPr lang="en" sz="2500"/>
              <a:t>Needs reformulation: h</a:t>
            </a:r>
            <a:r>
              <a:rPr lang="en" sz="2500"/>
              <a:t>umans instinctively ask questions—we want </a:t>
            </a:r>
            <a:r>
              <a:rPr b="1" lang="en" sz="2500"/>
              <a:t>answers </a:t>
            </a:r>
            <a:r>
              <a:rPr lang="en" sz="2500"/>
              <a:t>rather than </a:t>
            </a:r>
            <a:r>
              <a:rPr b="1" lang="en" sz="2500"/>
              <a:t>documents</a:t>
            </a:r>
            <a:endParaRPr b="1"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Clr>
                <a:srgbClr val="FF0000"/>
              </a:buClr>
              <a:buSzPts val="2100"/>
              <a:buChar char="●"/>
            </a:pPr>
            <a:r>
              <a:rPr lang="en" sz="2100">
                <a:solidFill>
                  <a:srgbClr val="FF0000"/>
                </a:solidFill>
              </a:rPr>
              <a:t>QUESTION PROCESSING</a:t>
            </a:r>
            <a:endParaRPr sz="2100">
              <a:solidFill>
                <a:srgbClr val="FF0000"/>
              </a:solidFill>
            </a:endParaRPr>
          </a:p>
          <a:p>
            <a:pPr indent="-336550" lvl="1" marL="914400" rtl="0" algn="l">
              <a:spcBef>
                <a:spcPts val="0"/>
              </a:spcBef>
              <a:spcAft>
                <a:spcPts val="0"/>
              </a:spcAft>
              <a:buSzPts val="1700"/>
              <a:buChar char="○"/>
            </a:pPr>
            <a:r>
              <a:rPr lang="en" sz="1700"/>
              <a:t>Set of heuristics (e.g., question parsing, extract entities, choose answer type, question classification)</a:t>
            </a:r>
            <a:endParaRPr sz="1700"/>
          </a:p>
          <a:p>
            <a:pPr indent="-336550" lvl="1" marL="914400" rtl="0" algn="l">
              <a:spcBef>
                <a:spcPts val="0"/>
              </a:spcBef>
              <a:spcAft>
                <a:spcPts val="0"/>
              </a:spcAft>
              <a:buSzPts val="1700"/>
              <a:buChar char="○"/>
            </a:pPr>
            <a:r>
              <a:rPr lang="en" sz="1700"/>
              <a:t>Formulate queries for retrieval—boolean retrieval model</a:t>
            </a:r>
            <a:endParaRPr sz="1700"/>
          </a:p>
          <a:p>
            <a:pPr indent="-361950" lvl="0" marL="457200" rtl="0" algn="l">
              <a:spcBef>
                <a:spcPts val="0"/>
              </a:spcBef>
              <a:spcAft>
                <a:spcPts val="0"/>
              </a:spcAft>
              <a:buClr>
                <a:srgbClr val="FF0000"/>
              </a:buClr>
              <a:buSzPts val="2100"/>
              <a:buChar char="●"/>
            </a:pPr>
            <a:r>
              <a:rPr lang="en" sz="2100">
                <a:solidFill>
                  <a:srgbClr val="FF0000"/>
                </a:solidFill>
              </a:rPr>
              <a:t>DOCUMENT &amp; PASSAGE RETRIEVAL</a:t>
            </a:r>
            <a:endParaRPr sz="2100">
              <a:solidFill>
                <a:srgbClr val="FF0000"/>
              </a:solidFill>
            </a:endParaRPr>
          </a:p>
          <a:p>
            <a:pPr indent="-336550" lvl="1" marL="914400" rtl="0" algn="l">
              <a:spcBef>
                <a:spcPts val="0"/>
              </a:spcBef>
              <a:spcAft>
                <a:spcPts val="0"/>
              </a:spcAft>
              <a:buSzPts val="1700"/>
              <a:buChar char="○"/>
            </a:pPr>
            <a:r>
              <a:rPr lang="en" sz="1700"/>
              <a:t>Collection of ranked documents are returned using IR methods</a:t>
            </a:r>
            <a:endParaRPr sz="1700"/>
          </a:p>
          <a:p>
            <a:pPr indent="-336550" lvl="1" marL="914400" rtl="0" algn="l">
              <a:spcBef>
                <a:spcPts val="0"/>
              </a:spcBef>
              <a:spcAft>
                <a:spcPts val="0"/>
              </a:spcAft>
              <a:buSzPts val="1700"/>
              <a:buChar char="○"/>
            </a:pPr>
            <a:r>
              <a:rPr lang="en" sz="1700"/>
              <a:t>Documents are processed further into passages and reranked</a:t>
            </a:r>
            <a:endParaRPr sz="1700"/>
          </a:p>
          <a:p>
            <a:pPr indent="-361950" lvl="0" marL="457200" rtl="0" algn="l">
              <a:spcBef>
                <a:spcPts val="0"/>
              </a:spcBef>
              <a:spcAft>
                <a:spcPts val="0"/>
              </a:spcAft>
              <a:buClr>
                <a:srgbClr val="FF0000"/>
              </a:buClr>
              <a:buSzPts val="2100"/>
              <a:buChar char="●"/>
            </a:pPr>
            <a:r>
              <a:rPr lang="en" sz="2100">
                <a:solidFill>
                  <a:srgbClr val="FF0000"/>
                </a:solidFill>
              </a:rPr>
              <a:t>ANSWER PROCESSING</a:t>
            </a:r>
            <a:endParaRPr sz="2100">
              <a:solidFill>
                <a:srgbClr val="FF0000"/>
              </a:solidFill>
            </a:endParaRPr>
          </a:p>
          <a:p>
            <a:pPr indent="-336550" lvl="1" marL="914400" rtl="0" algn="l">
              <a:spcBef>
                <a:spcPts val="0"/>
              </a:spcBef>
              <a:spcAft>
                <a:spcPts val="0"/>
              </a:spcAft>
              <a:buSzPts val="1700"/>
              <a:buChar char="○"/>
            </a:pPr>
            <a:r>
              <a:rPr lang="en" sz="1700"/>
              <a:t>Extracts potential answers based on NLP techniques</a:t>
            </a:r>
            <a:endParaRPr sz="1700"/>
          </a:p>
          <a:p>
            <a:pPr indent="-336550" lvl="1" marL="914400" rtl="0" algn="l">
              <a:spcBef>
                <a:spcPts val="0"/>
              </a:spcBef>
              <a:spcAft>
                <a:spcPts val="0"/>
              </a:spcAft>
              <a:buSzPts val="1700"/>
              <a:buChar char="○"/>
            </a:pPr>
            <a:r>
              <a:rPr lang="en" sz="1700"/>
              <a:t>Ranks answers on another set of heuristics</a:t>
            </a:r>
            <a:endParaRPr sz="1700"/>
          </a:p>
        </p:txBody>
      </p:sp>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Outline for</a:t>
            </a:r>
            <a:r>
              <a:rPr lang="en" sz="3900"/>
              <a:t> (mostly factoid) QA</a:t>
            </a:r>
            <a:endParaRPr sz="3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Brief history</a:t>
            </a:r>
            <a:endParaRPr sz="3900"/>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Char char="●"/>
            </a:pPr>
            <a:r>
              <a:rPr lang="en" sz="1900"/>
              <a:t>The TREC (Text REtrieval Conference) first included the QA track in 1999</a:t>
            </a:r>
            <a:endParaRPr sz="1900"/>
          </a:p>
          <a:p>
            <a:pPr indent="-349250" lvl="1" marL="914400" rtl="0" algn="l">
              <a:spcBef>
                <a:spcPts val="0"/>
              </a:spcBef>
              <a:spcAft>
                <a:spcPts val="0"/>
              </a:spcAft>
              <a:buSzPts val="1900"/>
              <a:buChar char="○"/>
            </a:pPr>
            <a:r>
              <a:rPr lang="en" sz="1500"/>
              <a:t>Constrained to factoid questions to make task amenable to evaluation</a:t>
            </a:r>
            <a:r>
              <a:rPr baseline="30000" lang="en" sz="1500"/>
              <a:t>1</a:t>
            </a:r>
            <a:endParaRPr baseline="30000" sz="1500"/>
          </a:p>
          <a:p>
            <a:pPr indent="-349250" lvl="0" marL="457200" rtl="0" algn="l">
              <a:spcBef>
                <a:spcPts val="0"/>
              </a:spcBef>
              <a:spcAft>
                <a:spcPts val="0"/>
              </a:spcAft>
              <a:buSzPts val="1900"/>
              <a:buChar char="●"/>
            </a:pPr>
            <a:r>
              <a:rPr lang="en" sz="1900"/>
              <a:t>IBM Watson (Ferrucci et al. 2010) is a hybrid-model applied to the Jeopardy! Challenge</a:t>
            </a:r>
            <a:endParaRPr sz="1900"/>
          </a:p>
          <a:p>
            <a:pPr indent="-349250" lvl="0" marL="457200" rtl="0" algn="l">
              <a:spcBef>
                <a:spcPts val="0"/>
              </a:spcBef>
              <a:spcAft>
                <a:spcPts val="0"/>
              </a:spcAft>
              <a:buSzPts val="1900"/>
              <a:buChar char="●"/>
            </a:pPr>
            <a:r>
              <a:rPr lang="en" sz="1900"/>
              <a:t>DrQA (Chen et al., 2017) is a neural machine reading system applied to open-domain QA—simple framework suggested</a:t>
            </a:r>
            <a:endParaRPr sz="1900"/>
          </a:p>
          <a:p>
            <a:pPr indent="-349250" lvl="0" marL="457200" rtl="0" algn="l">
              <a:spcBef>
                <a:spcPts val="0"/>
              </a:spcBef>
              <a:spcAft>
                <a:spcPts val="0"/>
              </a:spcAft>
              <a:buSzPts val="1900"/>
              <a:buChar char="●"/>
            </a:pPr>
            <a:r>
              <a:rPr lang="en" sz="1900"/>
              <a:t>ORQA (Lee et al., 2019) proposed an unsupervised objective—dense retriever used</a:t>
            </a:r>
            <a:endParaRPr sz="1900"/>
          </a:p>
        </p:txBody>
      </p:sp>
      <p:sp>
        <p:nvSpPr>
          <p:cNvPr id="97" name="Google Shape;97;p19"/>
          <p:cNvSpPr txBox="1"/>
          <p:nvPr/>
        </p:nvSpPr>
        <p:spPr>
          <a:xfrm>
            <a:off x="311700" y="4568875"/>
            <a:ext cx="8520600" cy="3879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Clr>
                <a:schemeClr val="dk2"/>
              </a:buClr>
              <a:buSzPts val="1300"/>
              <a:buAutoNum type="arabicPeriod"/>
            </a:pPr>
            <a:r>
              <a:rPr lang="en" sz="1300">
                <a:solidFill>
                  <a:schemeClr val="dk2"/>
                </a:solidFill>
              </a:rPr>
              <a:t>Assumption: successful evaluation </a:t>
            </a:r>
            <a:r>
              <a:rPr lang="en" sz="1300">
                <a:solidFill>
                  <a:schemeClr val="dk2"/>
                </a:solidFill>
              </a:rPr>
              <a:t>must</a:t>
            </a:r>
            <a:r>
              <a:rPr lang="en" sz="1300">
                <a:solidFill>
                  <a:schemeClr val="dk2"/>
                </a:solidFill>
              </a:rPr>
              <a:t> be difficult enough for current technology</a:t>
            </a:r>
            <a:endParaRPr sz="13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440013" y="262175"/>
            <a:ext cx="8520600" cy="8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520"/>
              <a:t>Example of an early system</a:t>
            </a:r>
            <a:endParaRPr sz="3520"/>
          </a:p>
          <a:p>
            <a:pPr indent="0" lvl="0" marL="0" rtl="0" algn="l">
              <a:spcBef>
                <a:spcPts val="0"/>
              </a:spcBef>
              <a:spcAft>
                <a:spcPts val="0"/>
              </a:spcAft>
              <a:buSzPts val="990"/>
              <a:buNone/>
            </a:pPr>
            <a:r>
              <a:rPr lang="en" sz="2980"/>
              <a:t>Moldovan et al. (2003)</a:t>
            </a:r>
            <a:endParaRPr sz="2980"/>
          </a:p>
        </p:txBody>
      </p:sp>
      <p:sp>
        <p:nvSpPr>
          <p:cNvPr id="103" name="Google Shape;103;p20"/>
          <p:cNvSpPr txBox="1"/>
          <p:nvPr/>
        </p:nvSpPr>
        <p:spPr>
          <a:xfrm>
            <a:off x="389700" y="4394450"/>
            <a:ext cx="5044200" cy="4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CC0000"/>
                </a:solidFill>
              </a:rPr>
              <a:t>What problems do you see with system?</a:t>
            </a:r>
            <a:endParaRPr sz="1900">
              <a:solidFill>
                <a:srgbClr val="CC0000"/>
              </a:solidFill>
            </a:endParaRPr>
          </a:p>
        </p:txBody>
      </p:sp>
      <p:pic>
        <p:nvPicPr>
          <p:cNvPr id="104" name="Google Shape;104;p20" title="Screenshot 2025-03-13 at 7.03.41 PM.png"/>
          <p:cNvPicPr preferRelativeResize="0"/>
          <p:nvPr/>
        </p:nvPicPr>
        <p:blipFill>
          <a:blip r:embed="rId3">
            <a:alphaModFix/>
          </a:blip>
          <a:stretch>
            <a:fillRect/>
          </a:stretch>
        </p:blipFill>
        <p:spPr>
          <a:xfrm>
            <a:off x="936338" y="1338300"/>
            <a:ext cx="7527977" cy="3056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Problems</a:t>
            </a:r>
            <a:endParaRPr sz="3900"/>
          </a:p>
        </p:txBody>
      </p:sp>
      <p:sp>
        <p:nvSpPr>
          <p:cNvPr id="110" name="Google Shape;110;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lang="en" sz="2100"/>
              <a:t>Serial system</a:t>
            </a:r>
            <a:endParaRPr sz="2100"/>
          </a:p>
          <a:p>
            <a:pPr indent="-361950" lvl="1" marL="914400" rtl="0" algn="l">
              <a:spcBef>
                <a:spcPts val="0"/>
              </a:spcBef>
              <a:spcAft>
                <a:spcPts val="0"/>
              </a:spcAft>
              <a:buSzPts val="2100"/>
              <a:buChar char="○"/>
            </a:pPr>
            <a:r>
              <a:rPr lang="en" sz="2100"/>
              <a:t>Potential for cascading errors which requires in-depth error analysis</a:t>
            </a:r>
            <a:endParaRPr sz="2100"/>
          </a:p>
          <a:p>
            <a:pPr indent="-361950" lvl="1" marL="914400" rtl="0" algn="l">
              <a:spcBef>
                <a:spcPts val="0"/>
              </a:spcBef>
              <a:spcAft>
                <a:spcPts val="0"/>
              </a:spcAft>
              <a:buSzPts val="2100"/>
              <a:buChar char="○"/>
            </a:pPr>
            <a:r>
              <a:rPr lang="en" sz="2100"/>
              <a:t>Implies more debugging and potential to be outdated quickly—precludes short development cycle</a:t>
            </a:r>
            <a:endParaRPr sz="2100"/>
          </a:p>
          <a:p>
            <a:pPr indent="-361950" lvl="0" marL="457200" rtl="0" algn="l">
              <a:spcBef>
                <a:spcPts val="0"/>
              </a:spcBef>
              <a:spcAft>
                <a:spcPts val="0"/>
              </a:spcAft>
              <a:buSzPts val="2100"/>
              <a:buChar char="●"/>
            </a:pPr>
            <a:r>
              <a:rPr lang="en" sz="2100"/>
              <a:t>Still successful ~ 70% on QA datasets</a:t>
            </a:r>
            <a:endParaRPr sz="2100"/>
          </a:p>
          <a:p>
            <a:pPr indent="-361950" lvl="0" marL="457200" rtl="0" algn="l">
              <a:spcBef>
                <a:spcPts val="0"/>
              </a:spcBef>
              <a:spcAft>
                <a:spcPts val="0"/>
              </a:spcAft>
              <a:buClr>
                <a:srgbClr val="4285F4"/>
              </a:buClr>
              <a:buSzPts val="2100"/>
              <a:buChar char="●"/>
            </a:pPr>
            <a:r>
              <a:rPr lang="en" sz="2100">
                <a:solidFill>
                  <a:srgbClr val="4285F4"/>
                </a:solidFill>
              </a:rPr>
              <a:t>It would be nice for a simplified framework to handle QA outline</a:t>
            </a:r>
            <a:endParaRPr sz="2100">
              <a:solidFill>
                <a:srgbClr val="4285F4"/>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440013" y="262175"/>
            <a:ext cx="8520600" cy="8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520"/>
              <a:t>Example of a neural system</a:t>
            </a:r>
            <a:endParaRPr sz="3520"/>
          </a:p>
          <a:p>
            <a:pPr indent="0" lvl="0" marL="0" rtl="0" algn="l">
              <a:spcBef>
                <a:spcPts val="0"/>
              </a:spcBef>
              <a:spcAft>
                <a:spcPts val="0"/>
              </a:spcAft>
              <a:buSzPts val="990"/>
              <a:buNone/>
            </a:pPr>
            <a:r>
              <a:rPr lang="en" sz="2880"/>
              <a:t>[Chen</a:t>
            </a:r>
            <a:r>
              <a:rPr lang="en" sz="2880"/>
              <a:t> et al. (2017), Lee et al. 2019]</a:t>
            </a:r>
            <a:endParaRPr sz="2880"/>
          </a:p>
        </p:txBody>
      </p:sp>
      <p:sp>
        <p:nvSpPr>
          <p:cNvPr id="116" name="Google Shape;116;p22"/>
          <p:cNvSpPr txBox="1"/>
          <p:nvPr/>
        </p:nvSpPr>
        <p:spPr>
          <a:xfrm>
            <a:off x="389700" y="4394450"/>
            <a:ext cx="8364600" cy="4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4285F4"/>
                </a:solidFill>
              </a:rPr>
              <a:t>Simplified framework!</a:t>
            </a:r>
            <a:endParaRPr sz="2000">
              <a:solidFill>
                <a:srgbClr val="4285F4"/>
              </a:solidFill>
            </a:endParaRPr>
          </a:p>
        </p:txBody>
      </p:sp>
      <p:pic>
        <p:nvPicPr>
          <p:cNvPr id="117" name="Google Shape;117;p22" title="mod_sys.png"/>
          <p:cNvPicPr preferRelativeResize="0"/>
          <p:nvPr/>
        </p:nvPicPr>
        <p:blipFill>
          <a:blip r:embed="rId3">
            <a:alphaModFix/>
          </a:blip>
          <a:stretch>
            <a:fillRect/>
          </a:stretch>
        </p:blipFill>
        <p:spPr>
          <a:xfrm>
            <a:off x="1530800" y="1304025"/>
            <a:ext cx="6123225" cy="30904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Benefits &amp; </a:t>
            </a:r>
            <a:r>
              <a:rPr lang="en" sz="3300"/>
              <a:t>drawbacks</a:t>
            </a:r>
            <a:endParaRPr sz="3300"/>
          </a:p>
        </p:txBody>
      </p:sp>
      <p:sp>
        <p:nvSpPr>
          <p:cNvPr id="123" name="Google Shape;123;p23"/>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381000" lvl="0" marL="457200" rtl="0" algn="l">
              <a:spcBef>
                <a:spcPts val="0"/>
              </a:spcBef>
              <a:spcAft>
                <a:spcPts val="0"/>
              </a:spcAft>
              <a:buSzPts val="2400"/>
              <a:buChar char="●"/>
            </a:pPr>
            <a:r>
              <a:rPr lang="en" sz="2400"/>
              <a:t>DrQA (Dr. Question Answering)</a:t>
            </a:r>
            <a:endParaRPr sz="2400"/>
          </a:p>
          <a:p>
            <a:pPr indent="0" lvl="0" marL="457200" rtl="0" algn="l">
              <a:spcBef>
                <a:spcPts val="1200"/>
              </a:spcBef>
              <a:spcAft>
                <a:spcPts val="0"/>
              </a:spcAft>
              <a:buNone/>
            </a:pPr>
            <a:r>
              <a:rPr lang="en" sz="1950"/>
              <a:t>(+) First application of NN (=LSTMs) to QA</a:t>
            </a:r>
            <a:endParaRPr sz="1950"/>
          </a:p>
          <a:p>
            <a:pPr indent="0" lvl="0" marL="457200" rtl="0" algn="l">
              <a:spcBef>
                <a:spcPts val="1200"/>
              </a:spcBef>
              <a:spcAft>
                <a:spcPts val="0"/>
              </a:spcAft>
              <a:buNone/>
            </a:pPr>
            <a:r>
              <a:rPr lang="en" sz="1950"/>
              <a:t>(-) Retriever is not learned (tf-idf, bigrams)</a:t>
            </a:r>
            <a:endParaRPr sz="1950"/>
          </a:p>
          <a:p>
            <a:pPr indent="0" lvl="0" marL="457200" rtl="0" algn="l">
              <a:spcBef>
                <a:spcPts val="1200"/>
              </a:spcBef>
              <a:spcAft>
                <a:spcPts val="0"/>
              </a:spcAft>
              <a:buNone/>
            </a:pPr>
            <a:r>
              <a:rPr lang="en" sz="1950"/>
              <a:t>(-) Modeled a reading comprehension task using P/Q/A pairs</a:t>
            </a:r>
            <a:endParaRPr sz="2000"/>
          </a:p>
          <a:p>
            <a:pPr indent="0" lvl="0" marL="914400" rtl="0" algn="l">
              <a:spcBef>
                <a:spcPts val="1200"/>
              </a:spcBef>
              <a:spcAft>
                <a:spcPts val="0"/>
              </a:spcAft>
              <a:buNone/>
            </a:pPr>
            <a:r>
              <a:t/>
            </a:r>
            <a:endParaRPr sz="1800"/>
          </a:p>
          <a:p>
            <a:pPr indent="-355600" lvl="0" marL="457200" rtl="0" algn="l">
              <a:spcBef>
                <a:spcPts val="1200"/>
              </a:spcBef>
              <a:spcAft>
                <a:spcPts val="0"/>
              </a:spcAft>
              <a:buSzPts val="2000"/>
              <a:buChar char="●"/>
            </a:pPr>
            <a:r>
              <a:rPr lang="en" sz="2300"/>
              <a:t>ORQA (Open Retrieval Question Answering)</a:t>
            </a:r>
            <a:endParaRPr sz="2300"/>
          </a:p>
          <a:p>
            <a:pPr indent="0" lvl="0" marL="457200" rtl="0" algn="l">
              <a:spcBef>
                <a:spcPts val="1200"/>
              </a:spcBef>
              <a:spcAft>
                <a:spcPts val="0"/>
              </a:spcAft>
              <a:buNone/>
            </a:pPr>
            <a:r>
              <a:rPr lang="en" sz="1950"/>
              <a:t>(+) Used a dense retriever (=BERT)</a:t>
            </a:r>
            <a:endParaRPr sz="1950"/>
          </a:p>
          <a:p>
            <a:pPr indent="0" lvl="0" marL="457200" rtl="0" algn="l">
              <a:spcBef>
                <a:spcPts val="1200"/>
              </a:spcBef>
              <a:spcAft>
                <a:spcPts val="1200"/>
              </a:spcAft>
              <a:buNone/>
            </a:pPr>
            <a:r>
              <a:rPr lang="en" sz="1950"/>
              <a:t>(-) Expensive pre-training objective to address </a:t>
            </a:r>
            <a:r>
              <a:rPr lang="en" sz="1950"/>
              <a:t>retrieval; Q/A pairs now</a:t>
            </a:r>
            <a:endParaRPr sz="19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900"/>
              <a:t>This paper</a:t>
            </a:r>
            <a:endParaRPr sz="3900"/>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still want </a:t>
            </a:r>
            <a:r>
              <a:rPr b="1" lang="en"/>
              <a:t>dense representations</a:t>
            </a:r>
            <a:r>
              <a:rPr lang="en"/>
              <a:t> but should use </a:t>
            </a:r>
            <a:r>
              <a:rPr b="1" lang="en"/>
              <a:t>efficient training methods</a:t>
            </a:r>
            <a:r>
              <a:rPr lang="en"/>
              <a:t>!</a:t>
            </a:r>
            <a:endParaRPr/>
          </a:p>
          <a:p>
            <a:pPr indent="-342900" lvl="0" marL="457200" rtl="0" algn="l">
              <a:spcBef>
                <a:spcPts val="0"/>
              </a:spcBef>
              <a:spcAft>
                <a:spcPts val="0"/>
              </a:spcAft>
              <a:buSzPts val="1800"/>
              <a:buChar char="●"/>
            </a:pPr>
            <a:r>
              <a:rPr lang="en"/>
              <a:t>Continues the shift to using large data resources, minimal preprocessing, and </a:t>
            </a:r>
            <a:r>
              <a:rPr b="1" lang="en"/>
              <a:t>focuses on minimal training</a:t>
            </a:r>
            <a:r>
              <a:rPr lang="en"/>
              <a:t> using  sampling</a:t>
            </a:r>
            <a:endParaRPr/>
          </a:p>
          <a:p>
            <a:pPr indent="-342900" lvl="0" marL="457200" rtl="0" algn="l">
              <a:spcBef>
                <a:spcPts val="0"/>
              </a:spcBef>
              <a:spcAft>
                <a:spcPts val="0"/>
              </a:spcAft>
              <a:buSzPts val="1800"/>
              <a:buChar char="●"/>
            </a:pPr>
            <a:r>
              <a:rPr lang="en"/>
              <a:t>The paper is really a sum of the best parts of previous work (seriously)</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DPR Architecture</a:t>
            </a:r>
            <a:endParaRPr b="1"/>
          </a:p>
        </p:txBody>
      </p:sp>
      <p:sp>
        <p:nvSpPr>
          <p:cNvPr id="135" name="Google Shape;13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The </a:t>
            </a:r>
            <a:r>
              <a:rPr b="1" lang="en">
                <a:solidFill>
                  <a:srgbClr val="040C28"/>
                </a:solidFill>
              </a:rPr>
              <a:t>dual-encoder</a:t>
            </a:r>
            <a:r>
              <a:rPr lang="en"/>
              <a:t> architecture is the backbone of DPR. These two encoders are based on BERT but trained on different purposes.</a:t>
            </a:r>
            <a:endParaRPr/>
          </a:p>
          <a:p>
            <a:pPr indent="-342900" lvl="0" marL="457200" rtl="0" algn="l">
              <a:spcBef>
                <a:spcPts val="0"/>
              </a:spcBef>
              <a:spcAft>
                <a:spcPts val="0"/>
              </a:spcAft>
              <a:buSzPts val="1800"/>
              <a:buAutoNum type="arabicPeriod"/>
            </a:pPr>
            <a:r>
              <a:rPr lang="en"/>
              <a:t>The first one is called the </a:t>
            </a:r>
            <a:r>
              <a:rPr b="1" lang="en">
                <a:solidFill>
                  <a:schemeClr val="dk1"/>
                </a:solidFill>
              </a:rPr>
              <a:t>Query Encoder(E</a:t>
            </a:r>
            <a:r>
              <a:rPr b="1" baseline="-25000" lang="en">
                <a:solidFill>
                  <a:schemeClr val="dk1"/>
                </a:solidFill>
              </a:rPr>
              <a:t>Q</a:t>
            </a:r>
            <a:r>
              <a:rPr b="1" lang="en">
                <a:solidFill>
                  <a:schemeClr val="dk1"/>
                </a:solidFill>
              </a:rPr>
              <a:t>)</a:t>
            </a:r>
            <a:r>
              <a:rPr lang="en"/>
              <a:t>. It takes a </a:t>
            </a:r>
            <a:r>
              <a:rPr b="1" lang="en">
                <a:solidFill>
                  <a:schemeClr val="dk1"/>
                </a:solidFill>
              </a:rPr>
              <a:t>question</a:t>
            </a:r>
            <a:r>
              <a:rPr lang="en"/>
              <a:t> and maps it into a dense vector representation in a high-dimensional space.</a:t>
            </a:r>
            <a:endParaRPr/>
          </a:p>
          <a:p>
            <a:pPr indent="-342900" lvl="0" marL="457200" rtl="0" algn="l">
              <a:spcBef>
                <a:spcPts val="0"/>
              </a:spcBef>
              <a:spcAft>
                <a:spcPts val="0"/>
              </a:spcAft>
              <a:buSzPts val="1800"/>
              <a:buAutoNum type="arabicPeriod"/>
            </a:pPr>
            <a:r>
              <a:rPr lang="en"/>
              <a:t>The other one is called the </a:t>
            </a:r>
            <a:r>
              <a:rPr b="1" lang="en">
                <a:solidFill>
                  <a:schemeClr val="dk1"/>
                </a:solidFill>
              </a:rPr>
              <a:t>Passage Encoder(E</a:t>
            </a:r>
            <a:r>
              <a:rPr b="1" baseline="-25000" lang="en">
                <a:solidFill>
                  <a:schemeClr val="dk1"/>
                </a:solidFill>
              </a:rPr>
              <a:t>P</a:t>
            </a:r>
            <a:r>
              <a:rPr b="1" lang="en">
                <a:solidFill>
                  <a:schemeClr val="dk1"/>
                </a:solidFill>
              </a:rPr>
              <a:t>)</a:t>
            </a:r>
            <a:r>
              <a:rPr lang="en"/>
              <a:t>. It takes a </a:t>
            </a:r>
            <a:r>
              <a:rPr b="1" lang="en">
                <a:solidFill>
                  <a:schemeClr val="dk1"/>
                </a:solidFill>
              </a:rPr>
              <a:t>passage</a:t>
            </a:r>
            <a:r>
              <a:rPr lang="en"/>
              <a:t> or a </a:t>
            </a:r>
            <a:r>
              <a:rPr b="1" lang="en">
                <a:solidFill>
                  <a:schemeClr val="dk1"/>
                </a:solidFill>
              </a:rPr>
              <a:t>chunk of text</a:t>
            </a:r>
            <a:r>
              <a:rPr lang="en"/>
              <a:t> from the corpus and maps it into a dense vector representation.</a:t>
            </a:r>
            <a:endParaRPr/>
          </a:p>
          <a:p>
            <a:pPr indent="-342900" lvl="0" marL="457200" rtl="0" algn="l">
              <a:spcBef>
                <a:spcPts val="0"/>
              </a:spcBef>
              <a:spcAft>
                <a:spcPts val="0"/>
              </a:spcAft>
              <a:buSzPts val="1800"/>
              <a:buAutoNum type="arabicPeriod"/>
            </a:pPr>
            <a:r>
              <a:rPr lang="en"/>
              <a:t>The similarity score determines how relevant a passage is to the given question. The higher the similarity score the better the match.</a:t>
            </a:r>
            <a:endParaRPr/>
          </a:p>
          <a:p>
            <a:pPr indent="0" lvl="0" marL="457200" rtl="0" algn="l">
              <a:spcBef>
                <a:spcPts val="1200"/>
              </a:spcBef>
              <a:spcAft>
                <a:spcPts val="1200"/>
              </a:spcAft>
              <a:buNone/>
            </a:pPr>
            <a:r>
              <a:rPr lang="en"/>
              <a:t>Similarity(q,p)=E</a:t>
            </a:r>
            <a:r>
              <a:rPr baseline="-25000" lang="en"/>
              <a:t>Q</a:t>
            </a:r>
            <a:r>
              <a:rPr lang="en"/>
              <a:t>​(q)</a:t>
            </a:r>
            <a:r>
              <a:rPr baseline="30000" lang="en"/>
              <a:t>⊤</a:t>
            </a:r>
            <a:r>
              <a:rPr lang="en"/>
              <a:t>E</a:t>
            </a:r>
            <a:r>
              <a:rPr baseline="-25000" lang="en"/>
              <a:t>P</a:t>
            </a:r>
            <a:r>
              <a:rPr lang="en"/>
              <a:t>​(p)</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Overview and </a:t>
            </a:r>
            <a:r>
              <a:rPr b="1" lang="en"/>
              <a:t>Advantages</a:t>
            </a:r>
            <a:r>
              <a:rPr b="1" lang="en"/>
              <a:t> of DPR Architecture</a:t>
            </a:r>
            <a:endParaRPr b="1"/>
          </a:p>
        </p:txBody>
      </p:sp>
      <p:pic>
        <p:nvPicPr>
          <p:cNvPr id="141" name="Google Shape;141;p26" title="dual_encoder.png"/>
          <p:cNvPicPr preferRelativeResize="0"/>
          <p:nvPr/>
        </p:nvPicPr>
        <p:blipFill>
          <a:blip r:embed="rId3">
            <a:alphaModFix/>
          </a:blip>
          <a:stretch>
            <a:fillRect/>
          </a:stretch>
        </p:blipFill>
        <p:spPr>
          <a:xfrm>
            <a:off x="701200" y="1170125"/>
            <a:ext cx="7741601" cy="2457199"/>
          </a:xfrm>
          <a:prstGeom prst="rect">
            <a:avLst/>
          </a:prstGeom>
          <a:noFill/>
          <a:ln>
            <a:noFill/>
          </a:ln>
        </p:spPr>
      </p:pic>
      <p:sp>
        <p:nvSpPr>
          <p:cNvPr id="142" name="Google Shape;142;p26"/>
          <p:cNvSpPr txBox="1"/>
          <p:nvPr/>
        </p:nvSpPr>
        <p:spPr>
          <a:xfrm>
            <a:off x="234875" y="3627325"/>
            <a:ext cx="7907100" cy="12786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2"/>
              </a:buClr>
              <a:buSzPts val="1600"/>
              <a:buAutoNum type="arabicPeriod"/>
            </a:pPr>
            <a:r>
              <a:rPr b="1" lang="en" sz="1600">
                <a:solidFill>
                  <a:schemeClr val="dk1"/>
                </a:solidFill>
              </a:rPr>
              <a:t>Independent Encoders</a:t>
            </a:r>
            <a:r>
              <a:rPr lang="en" sz="1600">
                <a:solidFill>
                  <a:schemeClr val="dk1"/>
                </a:solidFill>
              </a:rPr>
              <a:t>:</a:t>
            </a:r>
            <a:r>
              <a:rPr lang="en" sz="1600">
                <a:solidFill>
                  <a:schemeClr val="dk2"/>
                </a:solidFill>
              </a:rPr>
              <a:t> The query and passage encoders are independent, allowing them to specialize in encoding questions and passages respectively.</a:t>
            </a:r>
            <a:endParaRPr sz="1600">
              <a:solidFill>
                <a:schemeClr val="dk2"/>
              </a:solidFill>
            </a:endParaRPr>
          </a:p>
          <a:p>
            <a:pPr indent="-330200" lvl="0" marL="457200" rtl="0" algn="l">
              <a:lnSpc>
                <a:spcPct val="115000"/>
              </a:lnSpc>
              <a:spcBef>
                <a:spcPts val="0"/>
              </a:spcBef>
              <a:spcAft>
                <a:spcPts val="0"/>
              </a:spcAft>
              <a:buClr>
                <a:schemeClr val="dk2"/>
              </a:buClr>
              <a:buSzPts val="1600"/>
              <a:buAutoNum type="arabicPeriod"/>
            </a:pPr>
            <a:r>
              <a:rPr b="1" lang="en" sz="1600"/>
              <a:t>Shared Vector Space</a:t>
            </a:r>
            <a:r>
              <a:rPr lang="en" sz="1600">
                <a:solidFill>
                  <a:schemeClr val="dk1"/>
                </a:solidFill>
              </a:rPr>
              <a:t>:</a:t>
            </a:r>
            <a:r>
              <a:rPr lang="en" sz="1600">
                <a:solidFill>
                  <a:schemeClr val="dk2"/>
                </a:solidFill>
              </a:rPr>
              <a:t> Both encoders map their inputs into the same vector space, enabling direct comparison using dot product.</a:t>
            </a:r>
            <a:endParaRPr sz="16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Dual-Encoder Training -  Dataset</a:t>
            </a:r>
            <a:endParaRPr b="1"/>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Each training example consists of a question, a </a:t>
            </a:r>
            <a:r>
              <a:rPr lang="en"/>
              <a:t>positive</a:t>
            </a:r>
            <a:r>
              <a:rPr lang="en"/>
              <a:t> passage and negative passages.</a:t>
            </a:r>
            <a:endParaRPr/>
          </a:p>
          <a:p>
            <a:pPr indent="-342900" lvl="0" marL="457200" rtl="0" algn="l">
              <a:spcBef>
                <a:spcPts val="0"/>
              </a:spcBef>
              <a:spcAft>
                <a:spcPts val="0"/>
              </a:spcAft>
              <a:buSzPts val="1800"/>
              <a:buAutoNum type="arabicPeriod"/>
            </a:pPr>
            <a:r>
              <a:rPr lang="en" sz="1800"/>
              <a:t> </a:t>
            </a:r>
            <a:r>
              <a:rPr lang="en">
                <a:solidFill>
                  <a:schemeClr val="dk1"/>
                </a:solidFill>
              </a:rPr>
              <a:t>Q</a:t>
            </a:r>
            <a:r>
              <a:rPr lang="en" sz="1800">
                <a:solidFill>
                  <a:schemeClr val="dk1"/>
                </a:solidFill>
              </a:rPr>
              <a:t>uestion (q)</a:t>
            </a:r>
            <a:r>
              <a:rPr lang="en" sz="1800"/>
              <a:t> is the query to which we want an answer</a:t>
            </a:r>
            <a:endParaRPr/>
          </a:p>
          <a:p>
            <a:pPr indent="-342900" lvl="0" marL="457200" rtl="0" algn="l">
              <a:spcBef>
                <a:spcPts val="0"/>
              </a:spcBef>
              <a:spcAft>
                <a:spcPts val="0"/>
              </a:spcAft>
              <a:buSzPts val="1800"/>
              <a:buAutoNum type="arabicPeriod"/>
            </a:pPr>
            <a:r>
              <a:rPr lang="en" sz="1800"/>
              <a:t>A </a:t>
            </a:r>
            <a:r>
              <a:rPr lang="en" sz="1800">
                <a:solidFill>
                  <a:schemeClr val="dk1"/>
                </a:solidFill>
              </a:rPr>
              <a:t>positive passage (p</a:t>
            </a:r>
            <a:r>
              <a:rPr baseline="30000" lang="en" sz="1800">
                <a:solidFill>
                  <a:schemeClr val="dk1"/>
                </a:solidFill>
              </a:rPr>
              <a:t>+</a:t>
            </a:r>
            <a:r>
              <a:rPr lang="en" sz="1800">
                <a:solidFill>
                  <a:schemeClr val="dk1"/>
                </a:solidFill>
              </a:rPr>
              <a:t>)</a:t>
            </a:r>
            <a:r>
              <a:rPr lang="en"/>
              <a:t> is the</a:t>
            </a:r>
            <a:r>
              <a:rPr lang="en" sz="1800"/>
              <a:t> passage with the correct answer to the question.</a:t>
            </a:r>
            <a:endParaRPr/>
          </a:p>
          <a:p>
            <a:pPr indent="-342900" lvl="0" marL="457200" rtl="0" algn="l">
              <a:spcBef>
                <a:spcPts val="0"/>
              </a:spcBef>
              <a:spcAft>
                <a:spcPts val="0"/>
              </a:spcAft>
              <a:buSzPts val="1800"/>
              <a:buAutoNum type="arabicPeriod"/>
            </a:pPr>
            <a:r>
              <a:rPr lang="en">
                <a:solidFill>
                  <a:schemeClr val="dk1"/>
                </a:solidFill>
              </a:rPr>
              <a:t>N</a:t>
            </a:r>
            <a:r>
              <a:rPr lang="en" sz="1800">
                <a:solidFill>
                  <a:schemeClr val="dk1"/>
                </a:solidFill>
              </a:rPr>
              <a:t>egative passag</a:t>
            </a:r>
            <a:r>
              <a:rPr lang="en">
                <a:solidFill>
                  <a:schemeClr val="dk1"/>
                </a:solidFill>
              </a:rPr>
              <a:t>es</a:t>
            </a:r>
            <a:r>
              <a:rPr lang="en" sz="1800">
                <a:solidFill>
                  <a:schemeClr val="dk1"/>
                </a:solidFill>
              </a:rPr>
              <a:t> (p</a:t>
            </a:r>
            <a:r>
              <a:rPr baseline="-25000" lang="en" sz="1800">
                <a:solidFill>
                  <a:schemeClr val="dk1"/>
                </a:solidFill>
              </a:rPr>
              <a:t>j</a:t>
            </a:r>
            <a:r>
              <a:rPr baseline="30000" lang="en" sz="1800">
                <a:solidFill>
                  <a:schemeClr val="dk1"/>
                </a:solidFill>
              </a:rPr>
              <a:t>-</a:t>
            </a:r>
            <a:r>
              <a:rPr lang="en" sz="1800">
                <a:solidFill>
                  <a:schemeClr val="dk1"/>
                </a:solidFill>
              </a:rPr>
              <a:t>)</a:t>
            </a:r>
            <a:r>
              <a:rPr lang="en"/>
              <a:t> are the ones that are</a:t>
            </a:r>
            <a:r>
              <a:rPr lang="en" sz="1800"/>
              <a:t> irrelevant to the question.</a:t>
            </a:r>
            <a:endParaRPr sz="1800"/>
          </a:p>
          <a:p>
            <a:pPr indent="-342900" lvl="0" marL="457200" rtl="0" algn="l">
              <a:spcBef>
                <a:spcPts val="0"/>
              </a:spcBef>
              <a:spcAft>
                <a:spcPts val="0"/>
              </a:spcAft>
              <a:buSzPts val="1800"/>
              <a:buAutoNum type="arabicPeriod"/>
            </a:pPr>
            <a:r>
              <a:rPr lang="en"/>
              <a:t>The dual-encoder is trained to maximize the similarity between a question and its corresponding positive passage while minimizing the similarity with negative passages.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Dual-Encoder Training - Loss Function</a:t>
            </a:r>
            <a:endParaRPr b="1"/>
          </a:p>
        </p:txBody>
      </p:sp>
      <p:sp>
        <p:nvSpPr>
          <p:cNvPr id="154" name="Google Shape;154;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AutoNum type="arabicPeriod"/>
            </a:pPr>
            <a:r>
              <a:rPr lang="en"/>
              <a:t>The </a:t>
            </a:r>
            <a:r>
              <a:rPr b="1" lang="en">
                <a:solidFill>
                  <a:schemeClr val="dk1"/>
                </a:solidFill>
              </a:rPr>
              <a:t>negative log-likelihood loss</a:t>
            </a:r>
            <a:r>
              <a:rPr b="1" lang="en"/>
              <a:t> </a:t>
            </a:r>
            <a:r>
              <a:rPr lang="en"/>
              <a:t>is used to train the encoders with the goal of maximizing the </a:t>
            </a:r>
            <a:r>
              <a:rPr lang="en"/>
              <a:t>similarity</a:t>
            </a:r>
            <a:r>
              <a:rPr lang="en"/>
              <a:t> between the question and the positive passage while minimizing the similarity with negative passages.</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AutoNum type="arabicPeriod"/>
            </a:pPr>
            <a:r>
              <a:rPr lang="en"/>
              <a:t>The denominator considers the </a:t>
            </a:r>
            <a:r>
              <a:rPr lang="en"/>
              <a:t>similarity</a:t>
            </a:r>
            <a:r>
              <a:rPr lang="en"/>
              <a:t> scores of both the positive and negative, ensuring the model learns to distinguish between them. Parameters are updated using gradient descent.</a:t>
            </a:r>
            <a:endParaRPr/>
          </a:p>
        </p:txBody>
      </p:sp>
      <p:pic>
        <p:nvPicPr>
          <p:cNvPr id="155" name="Google Shape;155;p28" title="Screenshot 2025-03-24 at 1.27.10 PM.png"/>
          <p:cNvPicPr preferRelativeResize="0"/>
          <p:nvPr/>
        </p:nvPicPr>
        <p:blipFill>
          <a:blip r:embed="rId3">
            <a:alphaModFix/>
          </a:blip>
          <a:stretch>
            <a:fillRect/>
          </a:stretch>
        </p:blipFill>
        <p:spPr>
          <a:xfrm>
            <a:off x="2370225" y="2192575"/>
            <a:ext cx="3944975" cy="14456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Dual-Encoder Training - Selecting Negatives</a:t>
            </a:r>
            <a:endParaRPr b="1"/>
          </a:p>
        </p:txBody>
      </p:sp>
      <p:sp>
        <p:nvSpPr>
          <p:cNvPr id="161" name="Google Shape;16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We need an </a:t>
            </a:r>
            <a:r>
              <a:rPr lang="en"/>
              <a:t>efficient</a:t>
            </a:r>
            <a:r>
              <a:rPr lang="en"/>
              <a:t> way to pick negative passages from a large pool since, </a:t>
            </a:r>
            <a:r>
              <a:rPr lang="en"/>
              <a:t>all the passages that do not contain the relevant answer are negatives.</a:t>
            </a:r>
            <a:endParaRPr/>
          </a:p>
          <a:p>
            <a:pPr indent="-342900" lvl="0" marL="457200" rtl="0" algn="l">
              <a:spcBef>
                <a:spcPts val="0"/>
              </a:spcBef>
              <a:spcAft>
                <a:spcPts val="0"/>
              </a:spcAft>
              <a:buSzPts val="1800"/>
              <a:buAutoNum type="arabicPeriod"/>
            </a:pPr>
            <a:r>
              <a:rPr lang="en"/>
              <a:t>The authors explored three different ways to pick negative passages: </a:t>
            </a:r>
            <a:endParaRPr/>
          </a:p>
          <a:p>
            <a:pPr indent="-317500" lvl="1" marL="914400" rtl="0" algn="l">
              <a:spcBef>
                <a:spcPts val="0"/>
              </a:spcBef>
              <a:spcAft>
                <a:spcPts val="0"/>
              </a:spcAft>
              <a:buSzPts val="1400"/>
              <a:buAutoNum type="alphaLcPeriod"/>
            </a:pPr>
            <a:r>
              <a:rPr lang="en"/>
              <a:t>Random: any random passage from the corpus</a:t>
            </a:r>
            <a:endParaRPr/>
          </a:p>
          <a:p>
            <a:pPr indent="-317500" lvl="1" marL="914400" rtl="0" algn="l">
              <a:spcBef>
                <a:spcPts val="0"/>
              </a:spcBef>
              <a:spcAft>
                <a:spcPts val="0"/>
              </a:spcAft>
              <a:buSzPts val="1400"/>
              <a:buAutoNum type="alphaLcPeriod"/>
            </a:pPr>
            <a:r>
              <a:rPr lang="en"/>
              <a:t>BM25: top passages returned by BM25 which doesn’t contain the answer but match most question tokens</a:t>
            </a:r>
            <a:endParaRPr/>
          </a:p>
          <a:p>
            <a:pPr indent="-317500" lvl="1" marL="914400" rtl="0" algn="l">
              <a:spcBef>
                <a:spcPts val="0"/>
              </a:spcBef>
              <a:spcAft>
                <a:spcPts val="0"/>
              </a:spcAft>
              <a:buSzPts val="1400"/>
              <a:buAutoNum type="alphaLcPeriod"/>
            </a:pPr>
            <a:r>
              <a:rPr lang="en"/>
              <a:t>Gold: positive passages paired with the other questions which appear in the training set.</a:t>
            </a:r>
            <a:endParaRPr/>
          </a:p>
          <a:p>
            <a:pPr indent="-342900" lvl="0" marL="457200" rtl="0" algn="l">
              <a:spcBef>
                <a:spcPts val="0"/>
              </a:spcBef>
              <a:spcAft>
                <a:spcPts val="0"/>
              </a:spcAft>
              <a:buSzPts val="1800"/>
              <a:buAutoNum type="arabicPeriod"/>
            </a:pPr>
            <a:r>
              <a:rPr lang="en"/>
              <a:t>The best model has gold passages from the same mini-batch and one/two BM25 negative passage.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Dual-Encoder Training - In-batch negatives</a:t>
            </a:r>
            <a:endParaRPr b="1"/>
          </a:p>
        </p:txBody>
      </p:sp>
      <p:sp>
        <p:nvSpPr>
          <p:cNvPr id="167" name="Google Shape;16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For efficient computation, the negative passages are chosen from the same mini-batch in which the question is present called </a:t>
            </a:r>
            <a:r>
              <a:rPr b="1" lang="en">
                <a:solidFill>
                  <a:schemeClr val="dk1"/>
                </a:solidFill>
              </a:rPr>
              <a:t>in-batch negatives</a:t>
            </a:r>
            <a:r>
              <a:rPr lang="en"/>
              <a:t>.</a:t>
            </a:r>
            <a:endParaRPr/>
          </a:p>
          <a:p>
            <a:pPr indent="-342900" lvl="0" marL="457200" rtl="0" algn="l">
              <a:spcBef>
                <a:spcPts val="0"/>
              </a:spcBef>
              <a:spcAft>
                <a:spcPts val="0"/>
              </a:spcAft>
              <a:buSzPts val="1800"/>
              <a:buAutoNum type="arabicPeriod"/>
            </a:pPr>
            <a:r>
              <a:rPr lang="en"/>
              <a:t>A mini-batch of size B has B training examples/instances. Using the in-batch method each question has B-1 irrelevant or negative passages.</a:t>
            </a:r>
            <a:endParaRPr/>
          </a:p>
          <a:p>
            <a:pPr indent="-342900" lvl="0" marL="457200" rtl="0" algn="l">
              <a:spcBef>
                <a:spcPts val="0"/>
              </a:spcBef>
              <a:spcAft>
                <a:spcPts val="0"/>
              </a:spcAft>
              <a:buSzPts val="1800"/>
              <a:buAutoNum type="arabicPeriod"/>
            </a:pPr>
            <a:r>
              <a:rPr lang="en"/>
              <a:t>In-batch negatives method is effective since it </a:t>
            </a:r>
            <a:r>
              <a:rPr lang="en">
                <a:solidFill>
                  <a:schemeClr val="dk1"/>
                </a:solidFill>
              </a:rPr>
              <a:t>boosts the number of training examples</a:t>
            </a:r>
            <a:r>
              <a:rPr lang="en"/>
              <a:t> </a:t>
            </a:r>
            <a:r>
              <a:rPr lang="en"/>
              <a:t>especially</a:t>
            </a:r>
            <a:r>
              <a:rPr lang="en"/>
              <a:t> in learning a dual-encoder architecture.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DPR Inference</a:t>
            </a:r>
            <a:endParaRPr b="1" sz="2820"/>
          </a:p>
        </p:txBody>
      </p:sp>
      <p:sp>
        <p:nvSpPr>
          <p:cNvPr id="173" name="Google Shape;173;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852"/>
              <a:buNone/>
            </a:pPr>
            <a:r>
              <a:rPr lang="en" sz="2060"/>
              <a:t>   The inference system in DPR has mainly three parts:</a:t>
            </a:r>
            <a:endParaRPr sz="2060"/>
          </a:p>
          <a:p>
            <a:pPr indent="-359410" lvl="1" marL="914400" rtl="0" algn="l">
              <a:lnSpc>
                <a:spcPct val="95000"/>
              </a:lnSpc>
              <a:spcBef>
                <a:spcPts val="1200"/>
              </a:spcBef>
              <a:spcAft>
                <a:spcPts val="0"/>
              </a:spcAft>
              <a:buSzPts val="2060"/>
              <a:buAutoNum type="alphaLcPeriod"/>
            </a:pPr>
            <a:r>
              <a:rPr lang="en" sz="2060"/>
              <a:t>Precomputing Passage Embeddings</a:t>
            </a:r>
            <a:endParaRPr sz="2060"/>
          </a:p>
          <a:p>
            <a:pPr indent="-359410" lvl="1" marL="914400" rtl="0" algn="l">
              <a:lnSpc>
                <a:spcPct val="95000"/>
              </a:lnSpc>
              <a:spcBef>
                <a:spcPts val="0"/>
              </a:spcBef>
              <a:spcAft>
                <a:spcPts val="0"/>
              </a:spcAft>
              <a:buSzPts val="2060"/>
              <a:buAutoNum type="alphaLcPeriod"/>
            </a:pPr>
            <a:r>
              <a:rPr lang="en" sz="2060"/>
              <a:t>Query Encoding</a:t>
            </a:r>
            <a:endParaRPr sz="2060"/>
          </a:p>
          <a:p>
            <a:pPr indent="-359410" lvl="1" marL="914400" rtl="0" algn="l">
              <a:lnSpc>
                <a:spcPct val="95000"/>
              </a:lnSpc>
              <a:spcBef>
                <a:spcPts val="0"/>
              </a:spcBef>
              <a:spcAft>
                <a:spcPts val="0"/>
              </a:spcAft>
              <a:buSzPts val="2060"/>
              <a:buAutoNum type="alphaLcPeriod"/>
            </a:pPr>
            <a:r>
              <a:rPr lang="en" sz="2060"/>
              <a:t>Retrieval</a:t>
            </a:r>
            <a:endParaRPr sz="2060"/>
          </a:p>
          <a:p>
            <a:pPr indent="-359410" lvl="0" marL="457200" rtl="0" algn="l">
              <a:lnSpc>
                <a:spcPct val="95000"/>
              </a:lnSpc>
              <a:spcBef>
                <a:spcPts val="0"/>
              </a:spcBef>
              <a:spcAft>
                <a:spcPts val="0"/>
              </a:spcAft>
              <a:buSzPts val="2060"/>
              <a:buChar char="●"/>
            </a:pPr>
            <a:r>
              <a:rPr b="1" lang="en" sz="2060"/>
              <a:t>Precomputing Passage Embeddings</a:t>
            </a:r>
            <a:r>
              <a:rPr lang="en" sz="2060"/>
              <a:t>: Before answering any questions, the passage encoder(E</a:t>
            </a:r>
            <a:r>
              <a:rPr baseline="-25000" lang="en" sz="2060"/>
              <a:t>P</a:t>
            </a:r>
            <a:r>
              <a:rPr lang="en" sz="2060"/>
              <a:t>) computes dense embeddings for all the </a:t>
            </a:r>
            <a:r>
              <a:rPr b="1" lang="en" sz="2060">
                <a:solidFill>
                  <a:srgbClr val="4A86E8"/>
                </a:solidFill>
              </a:rPr>
              <a:t>passages</a:t>
            </a:r>
            <a:r>
              <a:rPr lang="en" sz="2060"/>
              <a:t> in the corpus, stores and indexes them. FAISS was used to build the index of these dense embeddings</a:t>
            </a:r>
            <a:endParaRPr sz="2060"/>
          </a:p>
          <a:p>
            <a:pPr indent="0" lvl="0" marL="0" rtl="0" algn="l">
              <a:lnSpc>
                <a:spcPct val="95000"/>
              </a:lnSpc>
              <a:spcBef>
                <a:spcPts val="1200"/>
              </a:spcBef>
              <a:spcAft>
                <a:spcPts val="1200"/>
              </a:spcAft>
              <a:buSzPts val="852"/>
              <a:buNone/>
            </a:pPr>
            <a:r>
              <a:t/>
            </a:r>
            <a:endParaRPr sz="1595"/>
          </a:p>
        </p:txBody>
      </p:sp>
      <p:sp>
        <p:nvSpPr>
          <p:cNvPr id="174" name="Google Shape;174;p31"/>
          <p:cNvSpPr txBox="1"/>
          <p:nvPr/>
        </p:nvSpPr>
        <p:spPr>
          <a:xfrm>
            <a:off x="1799925" y="1116525"/>
            <a:ext cx="554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DPR Inference</a:t>
            </a:r>
            <a:endParaRPr b="1" sz="2820"/>
          </a:p>
        </p:txBody>
      </p:sp>
      <p:sp>
        <p:nvSpPr>
          <p:cNvPr id="180" name="Google Shape;180;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1950" lvl="0" marL="457200" rtl="0" algn="l">
              <a:spcBef>
                <a:spcPts val="0"/>
              </a:spcBef>
              <a:spcAft>
                <a:spcPts val="0"/>
              </a:spcAft>
              <a:buSzPts val="2100"/>
              <a:buChar char="●"/>
            </a:pPr>
            <a:r>
              <a:rPr b="1" lang="en" sz="2100"/>
              <a:t>Query Encoding</a:t>
            </a:r>
            <a:r>
              <a:rPr lang="en" sz="2100"/>
              <a:t>: The query encoder(E</a:t>
            </a:r>
            <a:r>
              <a:rPr baseline="-25000" lang="en" sz="2100"/>
              <a:t>Q</a:t>
            </a:r>
            <a:r>
              <a:rPr lang="en" sz="2100"/>
              <a:t>) computes the dense embedding of the input </a:t>
            </a:r>
            <a:r>
              <a:rPr b="1" lang="en" sz="2100">
                <a:solidFill>
                  <a:srgbClr val="4A86E8"/>
                </a:solidFill>
              </a:rPr>
              <a:t>question</a:t>
            </a:r>
            <a:r>
              <a:rPr lang="en" sz="2100"/>
              <a:t> in real-time.</a:t>
            </a:r>
            <a:endParaRPr sz="2100"/>
          </a:p>
          <a:p>
            <a:pPr indent="-361950" lvl="0" marL="457200" rtl="0" algn="l">
              <a:spcBef>
                <a:spcPts val="0"/>
              </a:spcBef>
              <a:spcAft>
                <a:spcPts val="0"/>
              </a:spcAft>
              <a:buSzPts val="2100"/>
              <a:buChar char="●"/>
            </a:pPr>
            <a:r>
              <a:rPr b="1" lang="en" sz="2100"/>
              <a:t>Retrieval: </a:t>
            </a:r>
            <a:r>
              <a:rPr lang="en" sz="2100"/>
              <a:t>Top k passages with the </a:t>
            </a:r>
            <a:r>
              <a:rPr b="1" lang="en" sz="2100">
                <a:solidFill>
                  <a:srgbClr val="4A86E8"/>
                </a:solidFill>
              </a:rPr>
              <a:t>highest </a:t>
            </a:r>
            <a:r>
              <a:rPr b="1" lang="en" sz="2100">
                <a:solidFill>
                  <a:srgbClr val="4A86E8"/>
                </a:solidFill>
              </a:rPr>
              <a:t>similarity</a:t>
            </a:r>
            <a:r>
              <a:rPr lang="en" sz="2100"/>
              <a:t> scores are retrieved by comparing the </a:t>
            </a:r>
            <a:r>
              <a:rPr i="1" lang="en" sz="2100">
                <a:solidFill>
                  <a:srgbClr val="6AA84F"/>
                </a:solidFill>
              </a:rPr>
              <a:t>query embedding</a:t>
            </a:r>
            <a:r>
              <a:rPr lang="en" sz="2100"/>
              <a:t> with the precomputed </a:t>
            </a:r>
            <a:r>
              <a:rPr i="1" lang="en" sz="2100">
                <a:solidFill>
                  <a:srgbClr val="6AA84F"/>
                </a:solidFill>
              </a:rPr>
              <a:t>passage embeddings</a:t>
            </a:r>
            <a:r>
              <a:rPr lang="en" sz="2100"/>
              <a:t>.</a:t>
            </a:r>
            <a:endParaRPr sz="2100"/>
          </a:p>
          <a:p>
            <a:pPr indent="-361950" lvl="0" marL="457200" rtl="0" algn="l">
              <a:spcBef>
                <a:spcPts val="0"/>
              </a:spcBef>
              <a:spcAft>
                <a:spcPts val="0"/>
              </a:spcAft>
              <a:buSzPts val="2100"/>
              <a:buChar char="●"/>
            </a:pPr>
            <a:r>
              <a:rPr lang="en" sz="2100"/>
              <a:t>The retrieval is extremely fast because the similarity score involves only</a:t>
            </a:r>
            <a:r>
              <a:rPr lang="en" sz="2100">
                <a:solidFill>
                  <a:srgbClr val="4A86E8"/>
                </a:solidFill>
              </a:rPr>
              <a:t> inner </a:t>
            </a:r>
            <a:r>
              <a:rPr lang="en" sz="2100">
                <a:solidFill>
                  <a:srgbClr val="4A86E8"/>
                </a:solidFill>
              </a:rPr>
              <a:t>product computation</a:t>
            </a:r>
            <a:r>
              <a:rPr lang="en" sz="2100"/>
              <a:t>. </a:t>
            </a:r>
            <a:endParaRPr sz="2100"/>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DPR Inference - Overview</a:t>
            </a:r>
            <a:endParaRPr b="1" sz="2820"/>
          </a:p>
        </p:txBody>
      </p:sp>
      <p:pic>
        <p:nvPicPr>
          <p:cNvPr id="186" name="Google Shape;186;p33" title="inference.png"/>
          <p:cNvPicPr preferRelativeResize="0"/>
          <p:nvPr/>
        </p:nvPicPr>
        <p:blipFill>
          <a:blip r:embed="rId3">
            <a:alphaModFix/>
          </a:blip>
          <a:stretch>
            <a:fillRect/>
          </a:stretch>
        </p:blipFill>
        <p:spPr>
          <a:xfrm>
            <a:off x="152400" y="1170125"/>
            <a:ext cx="8839202" cy="364328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20"/>
              <a:t>Inference Efficiency</a:t>
            </a:r>
            <a:endParaRPr b="1" sz="2820"/>
          </a:p>
        </p:txBody>
      </p:sp>
      <p:sp>
        <p:nvSpPr>
          <p:cNvPr id="192" name="Google Shape;19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eriod"/>
            </a:pPr>
            <a:r>
              <a:rPr lang="en" sz="2200"/>
              <a:t>DPR avoids the need to encode </a:t>
            </a:r>
            <a:r>
              <a:rPr b="1" lang="en" sz="2200">
                <a:solidFill>
                  <a:srgbClr val="9900FF"/>
                </a:solidFill>
              </a:rPr>
              <a:t>passages repeatedly</a:t>
            </a:r>
            <a:r>
              <a:rPr lang="en" sz="2200"/>
              <a:t> during inference by precomputing and indexing </a:t>
            </a:r>
            <a:r>
              <a:rPr lang="en" sz="2200"/>
              <a:t>passage</a:t>
            </a:r>
            <a:r>
              <a:rPr lang="en" sz="2200"/>
              <a:t> embeddings</a:t>
            </a:r>
            <a:endParaRPr sz="2200"/>
          </a:p>
          <a:p>
            <a:pPr indent="-368300" lvl="0" marL="457200" rtl="0" algn="l">
              <a:spcBef>
                <a:spcPts val="0"/>
              </a:spcBef>
              <a:spcAft>
                <a:spcPts val="0"/>
              </a:spcAft>
              <a:buSzPts val="2200"/>
              <a:buAutoNum type="arabicPeriod"/>
            </a:pPr>
            <a:r>
              <a:rPr lang="en" sz="2200"/>
              <a:t>The use of FAISS enables </a:t>
            </a:r>
            <a:r>
              <a:rPr b="1" lang="en" sz="2200">
                <a:solidFill>
                  <a:srgbClr val="9900FF"/>
                </a:solidFill>
              </a:rPr>
              <a:t>efficient similarity search</a:t>
            </a:r>
            <a:r>
              <a:rPr lang="en" sz="2200"/>
              <a:t>, even in high-dimensional spaces.</a:t>
            </a:r>
            <a:endParaRPr sz="2200"/>
          </a:p>
          <a:p>
            <a:pPr indent="-368300" lvl="0" marL="457200" rtl="0" algn="l">
              <a:spcBef>
                <a:spcPts val="0"/>
              </a:spcBef>
              <a:spcAft>
                <a:spcPts val="0"/>
              </a:spcAft>
              <a:buSzPts val="2200"/>
              <a:buAutoNum type="arabicPeriod"/>
            </a:pPr>
            <a:r>
              <a:rPr lang="en" sz="2200"/>
              <a:t>The independent nature of the query and passage encoders allows for </a:t>
            </a:r>
            <a:r>
              <a:rPr b="1" lang="en" sz="2200">
                <a:solidFill>
                  <a:srgbClr val="9900FF"/>
                </a:solidFill>
              </a:rPr>
              <a:t>parallel processing</a:t>
            </a:r>
            <a:r>
              <a:rPr lang="en" sz="2200"/>
              <a:t>, improving efficiency.</a:t>
            </a:r>
            <a:endParaRPr sz="2200"/>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8" name="Google Shape;19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9" name="Google Shape;199;p3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5" name="Google Shape;20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6" name="Google Shape;206;p36"/>
          <p:cNvPicPr preferRelativeResize="0"/>
          <p:nvPr/>
        </p:nvPicPr>
        <p:blipFill rotWithShape="1">
          <a:blip r:embed="rId3">
            <a:alphaModFix/>
          </a:blip>
          <a:srcRect b="0" l="0" r="0" t="0"/>
          <a:stretch/>
        </p:blipFill>
        <p:spPr>
          <a:xfrm>
            <a:off x="152400" y="152400"/>
            <a:ext cx="9144000"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0" name="Shape 210"/>
        <p:cNvGrpSpPr/>
        <p:nvPr/>
      </p:nvGrpSpPr>
      <p:grpSpPr>
        <a:xfrm>
          <a:off x="0" y="0"/>
          <a:ext cx="0" cy="0"/>
          <a:chOff x="0" y="0"/>
          <a:chExt cx="0" cy="0"/>
        </a:xfrm>
      </p:grpSpPr>
      <p:sp>
        <p:nvSpPr>
          <p:cNvPr id="211" name="Google Shape;211;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2" name="Google Shape;212;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3" name="Google Shape;213;p37"/>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9" name="Google Shape;219;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0" name="Google Shape;220;p38"/>
          <p:cNvPicPr preferRelativeResize="0"/>
          <p:nvPr/>
        </p:nvPicPr>
        <p:blipFill>
          <a:blip r:embed="rId4">
            <a:alphaModFix/>
          </a:blip>
          <a:stretch>
            <a:fillRect/>
          </a:stretch>
        </p:blipFill>
        <p:spPr>
          <a:xfrm>
            <a:off x="152400" y="152400"/>
            <a:ext cx="9144000"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6" name="Google Shape;226;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7" name="Google Shape;227;p3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3" name="Google Shape;233;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4" name="Google Shape;234;p40"/>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Assumptions</a:t>
            </a:r>
            <a:endParaRPr/>
          </a:p>
        </p:txBody>
      </p:sp>
      <p:sp>
        <p:nvSpPr>
          <p:cNvPr id="240" name="Google Shape;240;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lang="en" sz="1500"/>
              <a:t>✅ </a:t>
            </a:r>
            <a:r>
              <a:rPr b="1" lang="en" sz="1500"/>
              <a:t>Dense Embeddings &gt; Sparse Methods</a:t>
            </a:r>
            <a:endParaRPr b="1" sz="1500"/>
          </a:p>
          <a:p>
            <a:pPr indent="0" lvl="0" marL="0" rtl="0" algn="l">
              <a:lnSpc>
                <a:spcPct val="95000"/>
              </a:lnSpc>
              <a:spcBef>
                <a:spcPts val="1200"/>
              </a:spcBef>
              <a:spcAft>
                <a:spcPts val="0"/>
              </a:spcAft>
              <a:buClr>
                <a:srgbClr val="000000"/>
              </a:buClr>
              <a:buSzPts val="605"/>
              <a:buFont typeface="Arial"/>
              <a:buNone/>
            </a:pPr>
            <a:r>
              <a:rPr lang="en" sz="1500"/>
              <a:t>"Dense retrieval methods have never been shown to outperform TF-IDF/BM25 for open-domain QA before 2019"</a:t>
            </a:r>
            <a:endParaRPr sz="1500"/>
          </a:p>
          <a:p>
            <a:pPr indent="0" lvl="0" marL="0" rtl="0" algn="l">
              <a:lnSpc>
                <a:spcPct val="95000"/>
              </a:lnSpc>
              <a:spcBef>
                <a:spcPts val="1200"/>
              </a:spcBef>
              <a:spcAft>
                <a:spcPts val="0"/>
              </a:spcAft>
              <a:buSzPts val="605"/>
              <a:buNone/>
            </a:pPr>
            <a:r>
              <a:t/>
            </a:r>
            <a:endParaRPr sz="1500"/>
          </a:p>
          <a:p>
            <a:pPr indent="0" lvl="0" marL="0" rtl="0" algn="l">
              <a:lnSpc>
                <a:spcPct val="95000"/>
              </a:lnSpc>
              <a:spcBef>
                <a:spcPts val="1200"/>
              </a:spcBef>
              <a:spcAft>
                <a:spcPts val="0"/>
              </a:spcAft>
              <a:buSzPts val="605"/>
              <a:buNone/>
            </a:pPr>
            <a:r>
              <a:rPr lang="en" sz="1500"/>
              <a:t>✅ </a:t>
            </a:r>
            <a:r>
              <a:rPr b="1" lang="en" sz="1500"/>
              <a:t>Dual-Encoder Model Works for Retrieval</a:t>
            </a:r>
            <a:endParaRPr b="1" sz="1500"/>
          </a:p>
          <a:p>
            <a:pPr indent="0" lvl="0" marL="0" rtl="0" algn="l">
              <a:lnSpc>
                <a:spcPct val="95000"/>
              </a:lnSpc>
              <a:spcBef>
                <a:spcPts val="1200"/>
              </a:spcBef>
              <a:spcAft>
                <a:spcPts val="0"/>
              </a:spcAft>
              <a:buSzPts val="605"/>
              <a:buNone/>
            </a:pPr>
            <a:r>
              <a:rPr lang="en" sz="1500"/>
              <a:t>BERT-based encoders can independently learn effective passage and query representations.</a:t>
            </a:r>
            <a:endParaRPr sz="1500"/>
          </a:p>
          <a:p>
            <a:pPr indent="0" lvl="0" marL="0" rtl="0" algn="l">
              <a:lnSpc>
                <a:spcPct val="95000"/>
              </a:lnSpc>
              <a:spcBef>
                <a:spcPts val="1200"/>
              </a:spcBef>
              <a:spcAft>
                <a:spcPts val="0"/>
              </a:spcAft>
              <a:buSzPts val="605"/>
              <a:buNone/>
            </a:pPr>
            <a:r>
              <a:t/>
            </a:r>
            <a:endParaRPr sz="1500"/>
          </a:p>
          <a:p>
            <a:pPr indent="0" lvl="0" marL="0" rtl="0" algn="l">
              <a:lnSpc>
                <a:spcPct val="95000"/>
              </a:lnSpc>
              <a:spcBef>
                <a:spcPts val="1200"/>
              </a:spcBef>
              <a:spcAft>
                <a:spcPts val="0"/>
              </a:spcAft>
              <a:buSzPts val="605"/>
              <a:buNone/>
            </a:pPr>
            <a:r>
              <a:rPr lang="en" sz="1500"/>
              <a:t>✅ </a:t>
            </a:r>
            <a:r>
              <a:rPr b="1" lang="en" sz="1500"/>
              <a:t>Fine Tuning is Sufficient</a:t>
            </a:r>
            <a:endParaRPr b="1" sz="1500"/>
          </a:p>
          <a:p>
            <a:pPr indent="0" lvl="0" marL="0" rtl="0" algn="l">
              <a:lnSpc>
                <a:spcPct val="95000"/>
              </a:lnSpc>
              <a:spcBef>
                <a:spcPts val="1200"/>
              </a:spcBef>
              <a:spcAft>
                <a:spcPts val="1200"/>
              </a:spcAft>
              <a:buClr>
                <a:srgbClr val="000000"/>
              </a:buClr>
              <a:buSzPts val="605"/>
              <a:buFont typeface="Arial"/>
              <a:buNone/>
            </a:pPr>
            <a:r>
              <a:rPr lang="en" sz="1500"/>
              <a:t>"With the proper training setup, simply fine-tuning the question and passage encoders on existing question-passage pairs is sufficient to greatly outperform BM25"</a:t>
            </a:r>
            <a:endParaRPr sz="15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Assumptions</a:t>
            </a:r>
            <a:endParaRPr/>
          </a:p>
        </p:txBody>
      </p:sp>
      <p:sp>
        <p:nvSpPr>
          <p:cNvPr id="246" name="Google Shape;246;p42"/>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lang="en" sz="1400"/>
              <a:t>✅ </a:t>
            </a:r>
            <a:r>
              <a:rPr b="1" lang="en" sz="1400"/>
              <a:t>In-Batch Negatives Improve Retrieval</a:t>
            </a:r>
            <a:endParaRPr b="1" sz="1400"/>
          </a:p>
          <a:p>
            <a:pPr indent="0" lvl="0" marL="0" rtl="0" algn="l">
              <a:lnSpc>
                <a:spcPct val="95000"/>
              </a:lnSpc>
              <a:spcBef>
                <a:spcPts val="1200"/>
              </a:spcBef>
              <a:spcAft>
                <a:spcPts val="0"/>
              </a:spcAft>
              <a:buNone/>
            </a:pPr>
            <a:r>
              <a:rPr lang="en" sz="1400"/>
              <a:t>Hard negatives (e.g., BM25-selected) enhance ranking quality.</a:t>
            </a:r>
            <a:endParaRPr sz="1400"/>
          </a:p>
          <a:p>
            <a:pPr indent="0" lvl="0" marL="0" rtl="0" algn="l">
              <a:lnSpc>
                <a:spcPct val="95000"/>
              </a:lnSpc>
              <a:spcBef>
                <a:spcPts val="1200"/>
              </a:spcBef>
              <a:spcAft>
                <a:spcPts val="0"/>
              </a:spcAft>
              <a:buNone/>
            </a:pPr>
            <a:r>
              <a:t/>
            </a:r>
            <a:endParaRPr sz="1400"/>
          </a:p>
          <a:p>
            <a:pPr indent="0" lvl="0" marL="0" rtl="0" algn="l">
              <a:lnSpc>
                <a:spcPct val="95000"/>
              </a:lnSpc>
              <a:spcBef>
                <a:spcPts val="1200"/>
              </a:spcBef>
              <a:spcAft>
                <a:spcPts val="0"/>
              </a:spcAft>
              <a:buNone/>
            </a:pPr>
            <a:r>
              <a:rPr lang="en" sz="1400"/>
              <a:t>✅ </a:t>
            </a:r>
            <a:r>
              <a:rPr b="1" lang="en" sz="1400"/>
              <a:t>Cross-Dataset Generalization Works</a:t>
            </a:r>
            <a:endParaRPr b="1" sz="1400"/>
          </a:p>
          <a:p>
            <a:pPr indent="0" lvl="0" marL="0" rtl="0" algn="l">
              <a:lnSpc>
                <a:spcPct val="95000"/>
              </a:lnSpc>
              <a:spcBef>
                <a:spcPts val="1200"/>
              </a:spcBef>
              <a:spcAft>
                <a:spcPts val="0"/>
              </a:spcAft>
              <a:buNone/>
            </a:pPr>
            <a:r>
              <a:rPr lang="en" sz="1400"/>
              <a:t>A retriever trained on one dataset can transfer knowledge to others.</a:t>
            </a:r>
            <a:endParaRPr sz="1500"/>
          </a:p>
          <a:p>
            <a:pPr indent="0" lvl="0" marL="0" rtl="0" algn="l">
              <a:lnSpc>
                <a:spcPct val="95000"/>
              </a:lnSpc>
              <a:spcBef>
                <a:spcPts val="1200"/>
              </a:spcBef>
              <a:spcAft>
                <a:spcPts val="1200"/>
              </a:spcAft>
              <a:buNone/>
            </a:pPr>
            <a:r>
              <a:t/>
            </a:r>
            <a:endParaRPr sz="1500"/>
          </a:p>
        </p:txBody>
      </p:sp>
      <p:pic>
        <p:nvPicPr>
          <p:cNvPr id="247" name="Google Shape;247;p42"/>
          <p:cNvPicPr preferRelativeResize="0"/>
          <p:nvPr/>
        </p:nvPicPr>
        <p:blipFill>
          <a:blip r:embed="rId3">
            <a:alphaModFix/>
          </a:blip>
          <a:stretch>
            <a:fillRect/>
          </a:stretch>
        </p:blipFill>
        <p:spPr>
          <a:xfrm>
            <a:off x="311700" y="3084799"/>
            <a:ext cx="8174351" cy="1808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Alternative applications</a:t>
            </a:r>
            <a:endParaRPr/>
          </a:p>
        </p:txBody>
      </p:sp>
      <p:sp>
        <p:nvSpPr>
          <p:cNvPr id="253" name="Google Shape;253;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 </a:t>
            </a:r>
            <a:r>
              <a:rPr b="1" lang="en"/>
              <a:t>Legal &amp; Financial Document Search</a:t>
            </a:r>
            <a:endParaRPr b="1"/>
          </a:p>
          <a:p>
            <a:pPr indent="0" lvl="0" marL="0" rtl="0" algn="l">
              <a:spcBef>
                <a:spcPts val="1200"/>
              </a:spcBef>
              <a:spcAft>
                <a:spcPts val="0"/>
              </a:spcAft>
              <a:buClr>
                <a:schemeClr val="dk1"/>
              </a:buClr>
              <a:buSzPts val="1100"/>
              <a:buFont typeface="Arial"/>
              <a:buNone/>
            </a:pPr>
            <a:r>
              <a:rPr lang="en"/>
              <a:t>Retrieve relevant case law, contracts, or reports based on queries.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 </a:t>
            </a:r>
            <a:r>
              <a:rPr b="1" lang="en"/>
              <a:t>Medical &amp; Scientific Literature Retrieval</a:t>
            </a:r>
            <a:endParaRPr b="1"/>
          </a:p>
          <a:p>
            <a:pPr indent="0" lvl="0" marL="0" rtl="0" algn="l">
              <a:spcBef>
                <a:spcPts val="1200"/>
              </a:spcBef>
              <a:spcAft>
                <a:spcPts val="0"/>
              </a:spcAft>
              <a:buClr>
                <a:schemeClr val="dk1"/>
              </a:buClr>
              <a:buSzPts val="1100"/>
              <a:buFont typeface="Arial"/>
              <a:buNone/>
            </a:pPr>
            <a:r>
              <a:rPr lang="en"/>
              <a:t>Find research papers, clinical guidelines, or patient case studies efficiently.</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100"/>
              <a:buFont typeface="Arial"/>
              <a:buNone/>
            </a:pPr>
            <a:r>
              <a:rPr lang="en"/>
              <a:t>💼 </a:t>
            </a:r>
            <a:r>
              <a:rPr b="1" lang="en"/>
              <a:t>Enterprise Knowledge Management</a:t>
            </a:r>
            <a:endParaRPr b="1"/>
          </a:p>
          <a:p>
            <a:pPr indent="0" lvl="0" marL="0" rtl="0" algn="l">
              <a:spcBef>
                <a:spcPts val="1200"/>
              </a:spcBef>
              <a:spcAft>
                <a:spcPts val="1200"/>
              </a:spcAft>
              <a:buNone/>
            </a:pPr>
            <a:r>
              <a:rPr lang="en"/>
              <a:t>Enhance internal search systems for company documents, manuals, and FAQs.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b="1" lang="en" sz="3900"/>
              <a:t>                    </a:t>
            </a:r>
            <a:r>
              <a:rPr b="1" lang="en" sz="3900"/>
              <a:t>Thank </a:t>
            </a:r>
            <a:r>
              <a:rPr b="1" lang="en" sz="3900"/>
              <a:t>you</a:t>
            </a:r>
            <a:r>
              <a:rPr b="1" lang="en" sz="3900"/>
              <a:t>!</a:t>
            </a:r>
            <a:endParaRPr b="1" sz="39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Internal Q’s</a:t>
            </a:r>
            <a:endParaRPr/>
          </a:p>
        </p:txBody>
      </p:sp>
      <p:sp>
        <p:nvSpPr>
          <p:cNvPr id="264" name="Google Shape;264;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Q1: Does it do true open-domain? Yes. Results depends on what you index.</a:t>
            </a:r>
            <a:endParaRPr/>
          </a:p>
          <a:p>
            <a:pPr indent="0" lvl="0" marL="0" rtl="0" algn="l">
              <a:spcBef>
                <a:spcPts val="1200"/>
              </a:spcBef>
              <a:spcAft>
                <a:spcPts val="0"/>
              </a:spcAft>
              <a:buNone/>
            </a:pPr>
            <a:r>
              <a:rPr lang="en"/>
              <a:t>Q2: Implementation? Sure. Need a decent collection of docs. Pretrained reader/retrievers are available on HF</a:t>
            </a:r>
            <a:endParaRPr/>
          </a:p>
          <a:p>
            <a:pPr indent="0" lvl="0" marL="0" rtl="0" algn="l">
              <a:spcBef>
                <a:spcPts val="1200"/>
              </a:spcBef>
              <a:spcAft>
                <a:spcPts val="0"/>
              </a:spcAft>
              <a:buNone/>
            </a:pPr>
            <a:r>
              <a:rPr lang="en"/>
              <a:t>Q3: Useful? Downstream? Yes. Remember your query is given to the encoder. We are used to chatbots.</a:t>
            </a:r>
            <a:endParaRPr/>
          </a:p>
          <a:p>
            <a:pPr indent="0" lvl="0" marL="0" rtl="0" algn="l">
              <a:spcBef>
                <a:spcPts val="1200"/>
              </a:spcBef>
              <a:spcAft>
                <a:spcPts val="0"/>
              </a:spcAft>
              <a:buNone/>
            </a:pPr>
            <a:r>
              <a:rPr lang="en"/>
              <a:t>Q4: Future work? Handling temporal sentences &amp; possibly simplifying the architecture. end-to-end learning &amp; retriever-free architectures.</a:t>
            </a:r>
            <a:endParaRPr/>
          </a:p>
          <a:p>
            <a:pPr indent="0" lvl="0" marL="0" rtl="0" algn="l">
              <a:spcBef>
                <a:spcPts val="1200"/>
              </a:spcBef>
              <a:spcAft>
                <a:spcPts val="0"/>
              </a:spcAft>
              <a:buNone/>
            </a:pPr>
            <a:r>
              <a:rPr lang="en"/>
              <a:t>Q5: How does the reader work? The reader, which is used for finding the answer, is trained to predict the beginning and end of the span, respectively. Different parameters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